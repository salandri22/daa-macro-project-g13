
<file path=[Content_Types].xml><?xml version="1.0" encoding="utf-8"?>
<Types xmlns="http://schemas.openxmlformats.org/package/2006/content-types">
  <Default Extension="png" ContentType="image/png"/>
  <Default Extension="mp4" ContentType="video/mp4"/>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1.xml"/><Relationship Id="rId3" Type="http://schemas.openxmlformats.org/officeDocument/2006/relationships/image" Target="../media/image1.png"/><Relationship Id="rId2" Type="http://schemas.microsoft.com/office/2007/relationships/media" Target="../media/media1.mp4"/><Relationship Id="rId1" Type="http://schemas.openxmlformats.org/officeDocument/2006/relationships/video" Target="../media/media1.mp4"/></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1.xml"/><Relationship Id="rId3" Type="http://schemas.openxmlformats.org/officeDocument/2006/relationships/image" Target="../media/image2.png"/><Relationship Id="rId2" Type="http://schemas.microsoft.com/office/2007/relationships/media" Target="../media/media2.mp4"/><Relationship Id="rId1" Type="http://schemas.openxmlformats.org/officeDocument/2006/relationships/video" Target="../media/media2.mp4"/></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548640" y="1097280"/>
            <a:ext cx="109728" cy="1828800"/>
          </a:xfrm>
          <a:prstGeom prst="rect">
            <a:avLst/>
          </a:prstGeom>
          <a:solidFill>
            <a:srgbClr val="14B8A6"/>
          </a:solidFill>
        </p:spPr>
      </p:sp>
      <p:sp>
        <p:nvSpPr>
          <p:cNvPr id="3" name="Text 1"/>
          <p:cNvSpPr txBox="1"/>
          <p:nvPr/>
        </p:nvSpPr>
        <p:spPr>
          <a:xfrm>
            <a:off x="914400" y="1051560"/>
            <a:ext cx="7315200" cy="365760"/>
          </a:xfrm>
          <a:prstGeom prst="rect">
            <a:avLst/>
          </a:prstGeom>
          <a:noFill/>
        </p:spPr>
        <p:txBody>
          <a:bodyPr wrap="square" lIns="0" tIns="0" rIns="0" bIns="0" rtlCol="0" anchor="ctr"/>
          <a:lstStyle/>
          <a:p>
            <a:pPr marL="0" indent="0">
              <a:buNone/>
            </a:pPr>
            <a:r>
              <a:rPr lang="en-US" sz="1400" b="1" kern="0" spc="400" dirty="0">
                <a:solidFill>
                  <a:srgbClr val="14B8A6"/>
                </a:solidFill>
                <a:latin typeface="Calibri" panose="020F0502020204030204" pitchFamily="34" charset="0"/>
                <a:ea typeface="Calibri" panose="020F0502020204030204" pitchFamily="34" charset="-122"/>
                <a:cs typeface="Calibri" panose="020F0502020204030204" pitchFamily="34" charset="-120"/>
              </a:rPr>
              <a:t>DAA MACRO PROJECT</a:t>
            </a:r>
            <a:endParaRPr lang="en-US" sz="1400" dirty="0"/>
          </a:p>
        </p:txBody>
      </p:sp>
      <p:sp>
        <p:nvSpPr>
          <p:cNvPr id="4" name="Text 2"/>
          <p:cNvSpPr txBox="1"/>
          <p:nvPr/>
        </p:nvSpPr>
        <p:spPr>
          <a:xfrm>
            <a:off x="914400" y="1463040"/>
            <a:ext cx="7772400" cy="822960"/>
          </a:xfrm>
          <a:prstGeom prst="rect">
            <a:avLst/>
          </a:prstGeom>
          <a:noFill/>
        </p:spPr>
        <p:txBody>
          <a:bodyPr wrap="square" lIns="0" tIns="0" rIns="0" bIns="0" rtlCol="0" anchor="ctr"/>
          <a:lstStyle/>
          <a:p>
            <a:pPr marL="0" indent="0">
              <a:buNone/>
            </a:pPr>
            <a:r>
              <a:rPr lang="en-US" sz="3800" b="1" dirty="0">
                <a:solidFill>
                  <a:srgbClr val="FFFFFF"/>
                </a:solidFill>
                <a:latin typeface="Calibri" panose="020F0502020204030204" pitchFamily="34" charset="0"/>
                <a:ea typeface="Calibri" panose="020F0502020204030204" pitchFamily="34" charset="-122"/>
                <a:cs typeface="Calibri" panose="020F0502020204030204" pitchFamily="34" charset="-120"/>
              </a:rPr>
              <a:t>Visualizing Algorithms with AI</a:t>
            </a:r>
            <a:endParaRPr lang="en-US" sz="3800" dirty="0"/>
          </a:p>
        </p:txBody>
      </p:sp>
      <p:sp>
        <p:nvSpPr>
          <p:cNvPr id="5" name="Text 3"/>
          <p:cNvSpPr txBox="1"/>
          <p:nvPr/>
        </p:nvSpPr>
        <p:spPr>
          <a:xfrm>
            <a:off x="914400" y="2377440"/>
            <a:ext cx="7315200" cy="365760"/>
          </a:xfrm>
          <a:prstGeom prst="rect">
            <a:avLst/>
          </a:prstGeom>
          <a:noFill/>
        </p:spPr>
        <p:txBody>
          <a:bodyPr wrap="square" lIns="0" tIns="0" rIns="0" bIns="0" rtlCol="0" anchor="ctr"/>
          <a:lstStyle/>
          <a:p>
            <a:pPr marL="0" indent="0">
              <a:buNone/>
            </a:pPr>
            <a:r>
              <a:rPr lang="en-US" sz="1600" dirty="0">
                <a:solidFill>
                  <a:srgbClr val="CBD5E1"/>
                </a:solidFill>
                <a:latin typeface="Calibri" panose="020F0502020204030204" pitchFamily="34" charset="0"/>
                <a:ea typeface="Calibri" panose="020F0502020204030204" pitchFamily="34" charset="-122"/>
                <a:cs typeface="Calibri" panose="020F0502020204030204" pitchFamily="34" charset="-120"/>
              </a:rPr>
              <a:t>Group 13  |  Design and Analysis of Algorithms</a:t>
            </a:r>
            <a:endParaRPr lang="en-US" sz="1600" dirty="0"/>
          </a:p>
        </p:txBody>
      </p:sp>
      <p:sp>
        <p:nvSpPr>
          <p:cNvPr id="6" name="Shape 4"/>
          <p:cNvSpPr/>
          <p:nvPr/>
        </p:nvSpPr>
        <p:spPr>
          <a:xfrm>
            <a:off x="914400" y="3474720"/>
            <a:ext cx="1417320" cy="777240"/>
          </a:xfrm>
          <a:prstGeom prst="roundRect">
            <a:avLst>
              <a:gd name="adj" fmla="val 9412"/>
            </a:avLst>
          </a:prstGeom>
          <a:solidFill>
            <a:srgbClr val="1E293B"/>
          </a:solidFill>
          <a:ln w="12700">
            <a:solidFill>
              <a:srgbClr val="14B8A6"/>
            </a:solidFill>
            <a:prstDash val="solid"/>
          </a:ln>
        </p:spPr>
      </p:sp>
      <p:sp>
        <p:nvSpPr>
          <p:cNvPr id="7" name="Text 5"/>
          <p:cNvSpPr txBox="1"/>
          <p:nvPr/>
        </p:nvSpPr>
        <p:spPr>
          <a:xfrm>
            <a:off x="914400" y="3482975"/>
            <a:ext cx="1417320" cy="777240"/>
          </a:xfrm>
          <a:prstGeom prst="rect">
            <a:avLst/>
          </a:prstGeom>
          <a:noFill/>
        </p:spPr>
        <p:txBody>
          <a:bodyPr wrap="square" lIns="0" tIns="0" rIns="0" bIns="0" rtlCol="0" anchor="ctr"/>
          <a:lstStyle/>
          <a:p>
            <a:pPr marL="0" indent="0" algn="ctr">
              <a:buNone/>
            </a:pPr>
            <a:r>
              <a:rPr lang="en-US" sz="1200" b="1" dirty="0">
                <a:solidFill>
                  <a:srgbClr val="14B8A6"/>
                </a:solidFill>
                <a:latin typeface="Calibri" panose="020F0502020204030204" pitchFamily="34" charset="0"/>
                <a:ea typeface="Calibri" panose="020F0502020204030204" pitchFamily="34" charset="-122"/>
                <a:cs typeface="Calibri" panose="020F0502020204030204" pitchFamily="34" charset="-120"/>
              </a:rPr>
              <a:t>Unit I</a:t>
            </a:r>
            <a:endParaRPr lang="en-US" sz="1200" dirty="0"/>
          </a:p>
          <a:p>
            <a:pPr marL="0" indent="0" algn="ctr">
              <a:buNone/>
            </a:pPr>
            <a:r>
              <a:rPr lang="en-US" sz="1200" dirty="0">
                <a:solidFill>
                  <a:srgbClr val="FFFFFF"/>
                </a:solidFill>
                <a:latin typeface="Calibri" panose="020F0502020204030204" pitchFamily="34" charset="0"/>
                <a:ea typeface="Calibri" panose="020F0502020204030204" pitchFamily="34" charset="-122"/>
                <a:cs typeface="Calibri" panose="020F0502020204030204" pitchFamily="34" charset="-120"/>
              </a:rPr>
              <a:t>Project 1</a:t>
            </a:r>
            <a:endParaRPr lang="en-US" sz="1200"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a:p>
            <a:pPr marL="0" indent="0" algn="ctr">
              <a:buNone/>
            </a:pPr>
            <a:r>
              <a:rPr lang="en-IN" altLang="en-US" sz="1200" dirty="0">
                <a:ln/>
                <a:solidFill>
                  <a:schemeClr val="bg1"/>
                </a:solidFill>
                <a:effectLst>
                  <a:outerShdw blurRad="38100" dist="19050" dir="2700000" algn="tl" rotWithShape="0">
                    <a:schemeClr val="dk1">
                      <a:alpha val="40000"/>
                    </a:schemeClr>
                  </a:outerShdw>
                </a:effectLst>
              </a:rPr>
              <a:t>Y.Spoorthy</a:t>
            </a:r>
            <a:endParaRPr lang="en-IN" altLang="en-US" sz="1200" dirty="0">
              <a:ln/>
              <a:solidFill>
                <a:schemeClr val="bg1"/>
              </a:solidFill>
              <a:effectLst>
                <a:outerShdw blurRad="38100" dist="19050" dir="2700000" algn="tl" rotWithShape="0">
                  <a:schemeClr val="dk1">
                    <a:alpha val="40000"/>
                  </a:schemeClr>
                </a:outerShdw>
              </a:effectLst>
            </a:endParaRPr>
          </a:p>
          <a:p>
            <a:pPr marL="0" indent="0" algn="ctr">
              <a:buNone/>
            </a:pPr>
            <a:r>
              <a:rPr lang="en-IN" altLang="en-US" sz="1200" dirty="0">
                <a:ln/>
                <a:solidFill>
                  <a:schemeClr val="bg1"/>
                </a:solidFill>
                <a:effectLst>
                  <a:outerShdw blurRad="38100" dist="19050" dir="2700000" algn="tl" rotWithShape="0">
                    <a:schemeClr val="dk1">
                      <a:alpha val="40000"/>
                    </a:schemeClr>
                  </a:outerShdw>
                </a:effectLst>
              </a:rPr>
              <a:t>24wh1a0522</a:t>
            </a:r>
            <a:endParaRPr lang="en-IN" altLang="en-US" sz="1200" dirty="0">
              <a:ln/>
              <a:solidFill>
                <a:schemeClr val="bg1"/>
              </a:solidFill>
              <a:effectLst>
                <a:outerShdw blurRad="38100" dist="19050" dir="2700000" algn="tl" rotWithShape="0">
                  <a:schemeClr val="dk1">
                    <a:alpha val="40000"/>
                  </a:schemeClr>
                </a:outerShdw>
              </a:effectLst>
            </a:endParaRPr>
          </a:p>
        </p:txBody>
      </p:sp>
      <p:sp>
        <p:nvSpPr>
          <p:cNvPr id="8" name="Shape 6"/>
          <p:cNvSpPr/>
          <p:nvPr/>
        </p:nvSpPr>
        <p:spPr>
          <a:xfrm>
            <a:off x="2468880" y="3474720"/>
            <a:ext cx="1417320" cy="777240"/>
          </a:xfrm>
          <a:prstGeom prst="roundRect">
            <a:avLst>
              <a:gd name="adj" fmla="val 9412"/>
            </a:avLst>
          </a:prstGeom>
          <a:solidFill>
            <a:srgbClr val="1E293B"/>
          </a:solidFill>
          <a:ln w="12700">
            <a:solidFill>
              <a:srgbClr val="14B8A6"/>
            </a:solidFill>
            <a:prstDash val="solid"/>
          </a:ln>
        </p:spPr>
      </p:sp>
      <p:sp>
        <p:nvSpPr>
          <p:cNvPr id="9" name="Text 7"/>
          <p:cNvSpPr txBox="1"/>
          <p:nvPr/>
        </p:nvSpPr>
        <p:spPr>
          <a:xfrm>
            <a:off x="2468880" y="3474720"/>
            <a:ext cx="1417320" cy="777240"/>
          </a:xfrm>
          <a:prstGeom prst="rect">
            <a:avLst/>
          </a:prstGeom>
          <a:noFill/>
        </p:spPr>
        <p:txBody>
          <a:bodyPr wrap="square" lIns="0" tIns="0" rIns="0" bIns="0" rtlCol="0" anchor="ctr"/>
          <a:lstStyle/>
          <a:p>
            <a:pPr marL="0" indent="0" algn="ctr">
              <a:buNone/>
            </a:pPr>
            <a:r>
              <a:rPr lang="en-US" sz="1200" b="1" dirty="0">
                <a:solidFill>
                  <a:srgbClr val="14B8A6"/>
                </a:solidFill>
                <a:latin typeface="Calibri" panose="020F0502020204030204" pitchFamily="34" charset="0"/>
                <a:ea typeface="Calibri" panose="020F0502020204030204" pitchFamily="34" charset="-122"/>
                <a:cs typeface="Calibri" panose="020F0502020204030204" pitchFamily="34" charset="-120"/>
              </a:rPr>
              <a:t>Unit II</a:t>
            </a:r>
            <a:endParaRPr lang="en-US" sz="1200" dirty="0"/>
          </a:p>
          <a:p>
            <a:pPr marL="0" indent="0" algn="ctr">
              <a:buNone/>
            </a:pPr>
            <a:r>
              <a:rPr lang="en-US" sz="1200" dirty="0">
                <a:solidFill>
                  <a:srgbClr val="FFFFFF"/>
                </a:solidFill>
                <a:latin typeface="Calibri" panose="020F0502020204030204" pitchFamily="34" charset="0"/>
                <a:ea typeface="Calibri" panose="020F0502020204030204" pitchFamily="34" charset="-122"/>
                <a:cs typeface="Calibri" panose="020F0502020204030204" pitchFamily="34" charset="-120"/>
              </a:rPr>
              <a:t>Project 6</a:t>
            </a:r>
            <a:endParaRPr lang="en-US" sz="1200"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a:p>
            <a:pPr marL="0" indent="0" algn="ctr">
              <a:buNone/>
            </a:pPr>
            <a:r>
              <a:rPr lang="en-IN" altLang="en-US" sz="1200" dirty="0">
                <a:solidFill>
                  <a:schemeClr val="bg1"/>
                </a:solidFill>
              </a:rPr>
              <a:t>S.Sneha</a:t>
            </a:r>
            <a:endParaRPr lang="en-IN" altLang="en-US" sz="1200" dirty="0">
              <a:solidFill>
                <a:schemeClr val="bg1"/>
              </a:solidFill>
            </a:endParaRPr>
          </a:p>
          <a:p>
            <a:pPr marL="0" indent="0" algn="ctr">
              <a:buNone/>
            </a:pPr>
            <a:r>
              <a:rPr lang="en-IN" altLang="en-US" sz="1200" dirty="0">
                <a:solidFill>
                  <a:schemeClr val="bg1"/>
                </a:solidFill>
              </a:rPr>
              <a:t>24wh1a0521</a:t>
            </a:r>
            <a:endParaRPr lang="en-IN" altLang="en-US" sz="1200" dirty="0">
              <a:solidFill>
                <a:schemeClr val="bg1"/>
              </a:solidFill>
            </a:endParaRPr>
          </a:p>
        </p:txBody>
      </p:sp>
      <p:sp>
        <p:nvSpPr>
          <p:cNvPr id="10" name="Shape 8"/>
          <p:cNvSpPr/>
          <p:nvPr/>
        </p:nvSpPr>
        <p:spPr>
          <a:xfrm>
            <a:off x="4023360" y="3474720"/>
            <a:ext cx="1417320" cy="777240"/>
          </a:xfrm>
          <a:prstGeom prst="roundRect">
            <a:avLst>
              <a:gd name="adj" fmla="val 9412"/>
            </a:avLst>
          </a:prstGeom>
          <a:solidFill>
            <a:srgbClr val="1E293B"/>
          </a:solidFill>
          <a:ln w="12700">
            <a:solidFill>
              <a:srgbClr val="14B8A6"/>
            </a:solidFill>
            <a:prstDash val="solid"/>
          </a:ln>
        </p:spPr>
      </p:sp>
      <p:sp>
        <p:nvSpPr>
          <p:cNvPr id="11" name="Text 9"/>
          <p:cNvSpPr txBox="1"/>
          <p:nvPr/>
        </p:nvSpPr>
        <p:spPr>
          <a:xfrm>
            <a:off x="4023360" y="3474720"/>
            <a:ext cx="1417320" cy="777240"/>
          </a:xfrm>
          <a:prstGeom prst="rect">
            <a:avLst/>
          </a:prstGeom>
          <a:noFill/>
        </p:spPr>
        <p:txBody>
          <a:bodyPr wrap="square" lIns="0" tIns="0" rIns="0" bIns="0" rtlCol="0" anchor="ctr"/>
          <a:lstStyle/>
          <a:p>
            <a:pPr marL="0" indent="0" algn="ctr">
              <a:buNone/>
            </a:pPr>
            <a:r>
              <a:rPr lang="en-US" sz="1200" b="1" dirty="0">
                <a:solidFill>
                  <a:srgbClr val="14B8A6"/>
                </a:solidFill>
                <a:latin typeface="Calibri" panose="020F0502020204030204" pitchFamily="34" charset="0"/>
                <a:ea typeface="Calibri" panose="020F0502020204030204" pitchFamily="34" charset="-122"/>
                <a:cs typeface="Calibri" panose="020F0502020204030204" pitchFamily="34" charset="-120"/>
              </a:rPr>
              <a:t>Unit III</a:t>
            </a:r>
            <a:endParaRPr lang="en-US" sz="1200" dirty="0"/>
          </a:p>
          <a:p>
            <a:pPr marL="0" indent="0" algn="ctr">
              <a:buNone/>
            </a:pPr>
            <a:r>
              <a:rPr lang="en-US" sz="1200" dirty="0">
                <a:solidFill>
                  <a:srgbClr val="FFFFFF"/>
                </a:solidFill>
                <a:latin typeface="Calibri" panose="020F0502020204030204" pitchFamily="34" charset="0"/>
                <a:ea typeface="Calibri" panose="020F0502020204030204" pitchFamily="34" charset="-122"/>
                <a:cs typeface="Calibri" panose="020F0502020204030204" pitchFamily="34" charset="-120"/>
              </a:rPr>
              <a:t>Project 9</a:t>
            </a:r>
            <a:endParaRPr lang="en-US" sz="1200"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a:p>
            <a:pPr marL="0" indent="0" algn="ctr">
              <a:buNone/>
            </a:pPr>
            <a:r>
              <a:rPr lang="en-IN" altLang="en-US" sz="1200" dirty="0">
                <a:solidFill>
                  <a:schemeClr val="bg1"/>
                </a:solidFill>
              </a:rPr>
              <a:t>T.Navya</a:t>
            </a:r>
            <a:endParaRPr lang="en-IN" altLang="en-US" sz="1200" dirty="0">
              <a:solidFill>
                <a:schemeClr val="bg1"/>
              </a:solidFill>
            </a:endParaRPr>
          </a:p>
          <a:p>
            <a:pPr marL="0" indent="0" algn="ctr">
              <a:buNone/>
            </a:pPr>
            <a:r>
              <a:rPr lang="en-IN" altLang="en-US" sz="1200" dirty="0">
                <a:solidFill>
                  <a:schemeClr val="bg1"/>
                </a:solidFill>
              </a:rPr>
              <a:t>24wh1a0513</a:t>
            </a:r>
            <a:endParaRPr lang="en-IN" altLang="en-US" sz="1200" dirty="0">
              <a:solidFill>
                <a:schemeClr val="bg1"/>
              </a:solidFill>
            </a:endParaRPr>
          </a:p>
        </p:txBody>
      </p:sp>
      <p:sp>
        <p:nvSpPr>
          <p:cNvPr id="12" name="Shape 10"/>
          <p:cNvSpPr/>
          <p:nvPr/>
        </p:nvSpPr>
        <p:spPr>
          <a:xfrm>
            <a:off x="5577840" y="3474720"/>
            <a:ext cx="1417320" cy="777240"/>
          </a:xfrm>
          <a:prstGeom prst="roundRect">
            <a:avLst>
              <a:gd name="adj" fmla="val 9412"/>
            </a:avLst>
          </a:prstGeom>
          <a:solidFill>
            <a:srgbClr val="1E293B"/>
          </a:solidFill>
          <a:ln w="12700">
            <a:solidFill>
              <a:srgbClr val="14B8A6"/>
            </a:solidFill>
            <a:prstDash val="solid"/>
          </a:ln>
        </p:spPr>
      </p:sp>
      <p:sp>
        <p:nvSpPr>
          <p:cNvPr id="13" name="Text 11"/>
          <p:cNvSpPr txBox="1"/>
          <p:nvPr/>
        </p:nvSpPr>
        <p:spPr>
          <a:xfrm>
            <a:off x="5577840" y="3474720"/>
            <a:ext cx="1417320" cy="777240"/>
          </a:xfrm>
          <a:prstGeom prst="rect">
            <a:avLst/>
          </a:prstGeom>
          <a:noFill/>
        </p:spPr>
        <p:txBody>
          <a:bodyPr wrap="square" lIns="0" tIns="0" rIns="0" bIns="0" rtlCol="0" anchor="ctr"/>
          <a:lstStyle/>
          <a:p>
            <a:pPr marL="0" indent="0" algn="ctr">
              <a:buNone/>
            </a:pPr>
            <a:r>
              <a:rPr lang="en-US" sz="1200" b="1" dirty="0">
                <a:solidFill>
                  <a:srgbClr val="14B8A6"/>
                </a:solidFill>
                <a:latin typeface="Calibri" panose="020F0502020204030204" pitchFamily="34" charset="0"/>
                <a:ea typeface="Calibri" panose="020F0502020204030204" pitchFamily="34" charset="-122"/>
                <a:cs typeface="Calibri" panose="020F0502020204030204" pitchFamily="34" charset="-120"/>
              </a:rPr>
              <a:t>Unit IV</a:t>
            </a:r>
            <a:endParaRPr lang="en-US" sz="1200" dirty="0"/>
          </a:p>
          <a:p>
            <a:pPr marL="0" indent="0" algn="ctr">
              <a:buNone/>
            </a:pPr>
            <a:r>
              <a:rPr lang="en-US" sz="1200" dirty="0">
                <a:solidFill>
                  <a:srgbClr val="FFFFFF"/>
                </a:solidFill>
                <a:latin typeface="Calibri" panose="020F0502020204030204" pitchFamily="34" charset="0"/>
                <a:ea typeface="Calibri" panose="020F0502020204030204" pitchFamily="34" charset="-122"/>
                <a:cs typeface="Calibri" panose="020F0502020204030204" pitchFamily="34" charset="-120"/>
              </a:rPr>
              <a:t>Project 10</a:t>
            </a:r>
            <a:endParaRPr lang="en-US" sz="1200"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a:p>
            <a:pPr marL="0" indent="0" algn="ctr">
              <a:buNone/>
            </a:pPr>
            <a:r>
              <a:rPr lang="en-IN" altLang="en-US" sz="1200" dirty="0">
                <a:solidFill>
                  <a:schemeClr val="bg1"/>
                </a:solidFill>
              </a:rPr>
              <a:t>M.Samvrudhi</a:t>
            </a:r>
            <a:endParaRPr lang="en-IN" altLang="en-US" sz="1200" dirty="0">
              <a:solidFill>
                <a:schemeClr val="bg1"/>
              </a:solidFill>
            </a:endParaRPr>
          </a:p>
          <a:p>
            <a:pPr marL="0" indent="0" algn="ctr">
              <a:buNone/>
            </a:pPr>
            <a:r>
              <a:rPr lang="en-IN" altLang="en-US" sz="1200" dirty="0">
                <a:solidFill>
                  <a:schemeClr val="bg1"/>
                </a:solidFill>
              </a:rPr>
              <a:t>24wh1a0531</a:t>
            </a:r>
            <a:endParaRPr lang="en-IN" altLang="en-US" sz="1200" dirty="0">
              <a:solidFill>
                <a:schemeClr val="bg1"/>
              </a:solidFill>
            </a:endParaRPr>
          </a:p>
        </p:txBody>
      </p:sp>
      <p:sp>
        <p:nvSpPr>
          <p:cNvPr id="14" name="Shape 12"/>
          <p:cNvSpPr/>
          <p:nvPr/>
        </p:nvSpPr>
        <p:spPr>
          <a:xfrm>
            <a:off x="7132320" y="3474720"/>
            <a:ext cx="1417320" cy="777240"/>
          </a:xfrm>
          <a:prstGeom prst="roundRect">
            <a:avLst>
              <a:gd name="adj" fmla="val 9412"/>
            </a:avLst>
          </a:prstGeom>
          <a:solidFill>
            <a:srgbClr val="1E293B"/>
          </a:solidFill>
          <a:ln w="12700">
            <a:solidFill>
              <a:srgbClr val="14B8A6"/>
            </a:solidFill>
            <a:prstDash val="solid"/>
          </a:ln>
        </p:spPr>
      </p:sp>
      <p:sp>
        <p:nvSpPr>
          <p:cNvPr id="15" name="Text 13"/>
          <p:cNvSpPr txBox="1"/>
          <p:nvPr/>
        </p:nvSpPr>
        <p:spPr>
          <a:xfrm>
            <a:off x="7132320" y="3474720"/>
            <a:ext cx="1417320" cy="777240"/>
          </a:xfrm>
          <a:prstGeom prst="rect">
            <a:avLst/>
          </a:prstGeom>
          <a:noFill/>
        </p:spPr>
        <p:txBody>
          <a:bodyPr wrap="square" lIns="0" tIns="0" rIns="0" bIns="0" rtlCol="0" anchor="ctr"/>
          <a:lstStyle/>
          <a:p>
            <a:pPr marL="0" indent="0" algn="ctr">
              <a:buNone/>
            </a:pPr>
            <a:r>
              <a:rPr lang="en-US" sz="1200" b="1" dirty="0">
                <a:solidFill>
                  <a:srgbClr val="14B8A6"/>
                </a:solidFill>
                <a:latin typeface="Calibri" panose="020F0502020204030204" pitchFamily="34" charset="0"/>
                <a:ea typeface="Calibri" panose="020F0502020204030204" pitchFamily="34" charset="-122"/>
                <a:cs typeface="Calibri" panose="020F0502020204030204" pitchFamily="34" charset="-120"/>
              </a:rPr>
              <a:t>Unit V</a:t>
            </a:r>
            <a:endParaRPr lang="en-US" sz="1200" dirty="0"/>
          </a:p>
          <a:p>
            <a:pPr marL="0" indent="0" algn="ctr">
              <a:buNone/>
            </a:pPr>
            <a:r>
              <a:rPr lang="en-US" sz="1200" dirty="0">
                <a:solidFill>
                  <a:srgbClr val="FFFFFF"/>
                </a:solidFill>
                <a:latin typeface="Calibri" panose="020F0502020204030204" pitchFamily="34" charset="0"/>
                <a:ea typeface="Calibri" panose="020F0502020204030204" pitchFamily="34" charset="-122"/>
                <a:cs typeface="Calibri" panose="020F0502020204030204" pitchFamily="34" charset="-120"/>
              </a:rPr>
              <a:t>Project 13</a:t>
            </a:r>
            <a:endParaRPr lang="en-US" sz="1200"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a:p>
            <a:pPr marL="0" indent="0" algn="ctr">
              <a:buNone/>
            </a:pPr>
            <a:r>
              <a:rPr lang="en-IN" altLang="en-US" sz="1200" dirty="0">
                <a:solidFill>
                  <a:schemeClr val="bg1"/>
                </a:solidFill>
              </a:rPr>
              <a:t>D.Hasini</a:t>
            </a:r>
            <a:endParaRPr lang="en-IN" altLang="en-US" sz="1200" dirty="0">
              <a:solidFill>
                <a:schemeClr val="bg1"/>
              </a:solidFill>
            </a:endParaRPr>
          </a:p>
          <a:p>
            <a:pPr marL="0" indent="0" algn="ctr">
              <a:buNone/>
            </a:pPr>
            <a:r>
              <a:rPr lang="en-IN" altLang="en-US" sz="1200" dirty="0">
                <a:solidFill>
                  <a:schemeClr val="bg1"/>
                </a:solidFill>
              </a:rPr>
              <a:t>24wh1a0539</a:t>
            </a:r>
            <a:endParaRPr lang="en-IN" altLang="en-US" sz="1200"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F172A"/>
          </a:solidFill>
        </p:spPr>
      </p:sp>
      <p:sp>
        <p:nvSpPr>
          <p:cNvPr id="3" name="Shape 1"/>
          <p:cNvSpPr/>
          <p:nvPr/>
        </p:nvSpPr>
        <p:spPr>
          <a:xfrm>
            <a:off x="0" y="914400"/>
            <a:ext cx="9144000" cy="54864"/>
          </a:xfrm>
          <a:prstGeom prst="rect">
            <a:avLst/>
          </a:prstGeom>
          <a:solidFill>
            <a:srgbClr val="14B8A6"/>
          </a:solidFill>
        </p:spPr>
      </p:sp>
      <p:sp>
        <p:nvSpPr>
          <p:cNvPr id="4" name="Text 2"/>
          <p:cNvSpPr txBox="1"/>
          <p:nvPr/>
        </p:nvSpPr>
        <p:spPr>
          <a:xfrm>
            <a:off x="457200" y="109728"/>
            <a:ext cx="8229600" cy="274320"/>
          </a:xfrm>
          <a:prstGeom prst="rect">
            <a:avLst/>
          </a:prstGeom>
          <a:noFill/>
        </p:spPr>
        <p:txBody>
          <a:bodyPr wrap="square" lIns="0" tIns="0" rIns="0" bIns="0" rtlCol="0" anchor="ctr"/>
          <a:lstStyle/>
          <a:p>
            <a:pPr marL="0" indent="0">
              <a:buNone/>
            </a:pPr>
            <a:r>
              <a:rPr lang="en-US" sz="1100" b="1" dirty="0">
                <a:solidFill>
                  <a:srgbClr val="14B8A6"/>
                </a:solidFill>
                <a:latin typeface="Calibri" panose="020F0502020204030204" pitchFamily="34" charset="0"/>
                <a:ea typeface="Calibri" panose="020F0502020204030204" pitchFamily="34" charset="-122"/>
                <a:cs typeface="Calibri" panose="020F0502020204030204" pitchFamily="34" charset="-120"/>
              </a:rPr>
              <a:t>Unit I – Algorithm Analysis  |  Project 1</a:t>
            </a:r>
            <a:endParaRPr lang="en-US" sz="1100" dirty="0"/>
          </a:p>
        </p:txBody>
      </p:sp>
      <p:sp>
        <p:nvSpPr>
          <p:cNvPr id="5" name="Text 3"/>
          <p:cNvSpPr txBox="1"/>
          <p:nvPr/>
        </p:nvSpPr>
        <p:spPr>
          <a:xfrm>
            <a:off x="457200" y="384048"/>
            <a:ext cx="8229600" cy="411480"/>
          </a:xfrm>
          <a:prstGeom prst="rect">
            <a:avLst/>
          </a:prstGeom>
          <a:noFill/>
        </p:spPr>
        <p:txBody>
          <a:bodyPr wrap="square" lIns="0" tIns="0" rIns="0" bIns="0" rtlCol="0" anchor="ctr"/>
          <a:lstStyle/>
          <a:p>
            <a:pPr marL="0" indent="0">
              <a:buNone/>
            </a:pPr>
            <a:r>
              <a:rPr lang="en-US" sz="2200" b="1" dirty="0">
                <a:solidFill>
                  <a:srgbClr val="FFFFFF"/>
                </a:solidFill>
                <a:latin typeface="Calibri" panose="020F0502020204030204" pitchFamily="34" charset="0"/>
                <a:ea typeface="Calibri" panose="020F0502020204030204" pitchFamily="34" charset="-122"/>
                <a:cs typeface="Calibri" panose="020F0502020204030204" pitchFamily="34" charset="-120"/>
              </a:rPr>
              <a:t>Sorting Complexity Visualizer</a:t>
            </a:r>
            <a:endParaRPr lang="en-US" sz="2200" dirty="0"/>
          </a:p>
        </p:txBody>
      </p:sp>
      <p:sp>
        <p:nvSpPr>
          <p:cNvPr id="6" name="Text 4"/>
          <p:cNvSpPr txBox="1"/>
          <p:nvPr/>
        </p:nvSpPr>
        <p:spPr>
          <a:xfrm>
            <a:off x="457200" y="4800600"/>
            <a:ext cx="5486400" cy="228600"/>
          </a:xfrm>
          <a:prstGeom prst="rect">
            <a:avLst/>
          </a:prstGeom>
          <a:noFill/>
        </p:spPr>
        <p:txBody>
          <a:bodyPr wrap="square" lIns="0" tIns="0" rIns="0" bIns="0" rtlCol="0" anchor="ctr"/>
          <a:lstStyle/>
          <a:p>
            <a:pPr marL="0" indent="0">
              <a:buNone/>
            </a:pPr>
            <a:r>
              <a:rPr lang="en-US" sz="900" dirty="0">
                <a:solidFill>
                  <a:srgbClr val="64748B"/>
                </a:solidFill>
                <a:latin typeface="Calibri" panose="020F0502020204030204" pitchFamily="34" charset="0"/>
                <a:ea typeface="Calibri" panose="020F0502020204030204" pitchFamily="34" charset="-122"/>
                <a:cs typeface="Calibri" panose="020F0502020204030204" pitchFamily="34" charset="-120"/>
              </a:rPr>
              <a:t>Group 13  |  DAA Macro Project</a:t>
            </a:r>
            <a:endParaRPr lang="en-US" sz="900" dirty="0"/>
          </a:p>
        </p:txBody>
      </p:sp>
      <p:sp>
        <p:nvSpPr>
          <p:cNvPr id="7" name="Shape 5"/>
          <p:cNvSpPr/>
          <p:nvPr/>
        </p:nvSpPr>
        <p:spPr>
          <a:xfrm>
            <a:off x="457200" y="1234440"/>
            <a:ext cx="3657600" cy="3383280"/>
          </a:xfrm>
          <a:prstGeom prst="roundRect">
            <a:avLst>
              <a:gd name="adj" fmla="val 2162"/>
            </a:avLst>
          </a:prstGeom>
          <a:solidFill>
            <a:srgbClr val="FFFFFF"/>
          </a:solidFill>
          <a:ln w="9525">
            <a:solidFill>
              <a:srgbClr val="CBD5E1"/>
            </a:solidFill>
            <a:prstDash val="solid"/>
          </a:ln>
        </p:spPr>
      </p:sp>
      <p:sp>
        <p:nvSpPr>
          <p:cNvPr id="8" name="Shape 6"/>
          <p:cNvSpPr/>
          <p:nvPr/>
        </p:nvSpPr>
        <p:spPr>
          <a:xfrm>
            <a:off x="457200" y="1371600"/>
            <a:ext cx="54864" cy="274320"/>
          </a:xfrm>
          <a:prstGeom prst="rect">
            <a:avLst/>
          </a:prstGeom>
          <a:solidFill>
            <a:srgbClr val="14B8A6"/>
          </a:solidFill>
        </p:spPr>
      </p:sp>
      <p:sp>
        <p:nvSpPr>
          <p:cNvPr id="9" name="Text 7"/>
          <p:cNvSpPr txBox="1"/>
          <p:nvPr/>
        </p:nvSpPr>
        <p:spPr>
          <a:xfrm>
            <a:off x="640080" y="1344168"/>
            <a:ext cx="3291840" cy="320040"/>
          </a:xfrm>
          <a:prstGeom prst="rect">
            <a:avLst/>
          </a:prstGeom>
          <a:noFill/>
        </p:spPr>
        <p:txBody>
          <a:bodyPr wrap="square" lIns="0" tIns="0" rIns="0" bIns="0" rtlCol="0" anchor="ctr"/>
          <a:lstStyle/>
          <a:p>
            <a:pPr marL="0" indent="0">
              <a:buNone/>
            </a:pPr>
            <a:r>
              <a:rPr lang="en-US" sz="1300" b="1" dirty="0">
                <a:solidFill>
                  <a:srgbClr val="0F172A"/>
                </a:solidFill>
                <a:latin typeface="Calibri" panose="020F0502020204030204" pitchFamily="34" charset="0"/>
                <a:ea typeface="Calibri" panose="020F0502020204030204" pitchFamily="34" charset="-122"/>
                <a:cs typeface="Calibri" panose="020F0502020204030204" pitchFamily="34" charset="-120"/>
              </a:rPr>
              <a:t>Problem and Key Ideas</a:t>
            </a:r>
            <a:endParaRPr lang="en-US" sz="1300" dirty="0"/>
          </a:p>
        </p:txBody>
      </p:sp>
      <p:sp>
        <p:nvSpPr>
          <p:cNvPr id="10" name="Text 8"/>
          <p:cNvSpPr txBox="1"/>
          <p:nvPr/>
        </p:nvSpPr>
        <p:spPr>
          <a:xfrm>
            <a:off x="640080" y="1737360"/>
            <a:ext cx="3291840" cy="2788920"/>
          </a:xfrm>
          <a:prstGeom prst="rect">
            <a:avLst/>
          </a:prstGeom>
          <a:noFill/>
        </p:spPr>
        <p:txBody>
          <a:bodyPr wrap="square" lIns="0" tIns="0" rIns="0" bIns="0" rtlCol="0" anchor="t"/>
          <a:lstStyle/>
          <a:p>
            <a:pPr marL="0" indent="0">
              <a:spcAft>
                <a:spcPts val="400"/>
              </a:spcAft>
              <a:buNone/>
            </a:pPr>
            <a:endParaRPr lang="en-US" sz="1200" dirty="0"/>
          </a:p>
        </p:txBody>
      </p:sp>
      <p:sp>
        <p:nvSpPr>
          <p:cNvPr id="11" name="Text 9"/>
          <p:cNvSpPr txBox="1"/>
          <p:nvPr/>
        </p:nvSpPr>
        <p:spPr>
          <a:xfrm>
            <a:off x="640080" y="1737360"/>
            <a:ext cx="3291840" cy="2788920"/>
          </a:xfrm>
          <a:prstGeom prst="rect">
            <a:avLst/>
          </a:prstGeom>
          <a:noFill/>
        </p:spPr>
        <p:txBody>
          <a:bodyPr wrap="square" lIns="0" tIns="0" rIns="0" bIns="0" rtlCol="0" anchor="t"/>
          <a:lstStyle/>
          <a:p>
            <a:pPr marL="0" indent="0">
              <a:spcAft>
                <a:spcPts val="500"/>
              </a:spcAft>
              <a:buNone/>
            </a:pPr>
            <a:r>
              <a:rPr lang="en-US" sz="1200" dirty="0">
                <a:solidFill>
                  <a:srgbClr val="1E293B"/>
                </a:solidFill>
                <a:latin typeface="Calibri" panose="020F0502020204030204" pitchFamily="34" charset="0"/>
                <a:ea typeface="Calibri" panose="020F0502020204030204" pitchFamily="34" charset="-122"/>
                <a:cs typeface="Calibri" panose="020F0502020204030204" pitchFamily="34" charset="-120"/>
              </a:rPr>
              <a:t>Compare how the running time of Merge Sort and Quick Sort grows as the input size increases (n = 10, 100, 1000).</a:t>
            </a:r>
            <a:endParaRPr lang="en-US" sz="1200" dirty="0"/>
          </a:p>
          <a:p>
            <a:pPr marL="0" indent="0">
              <a:spcAft>
                <a:spcPts val="500"/>
              </a:spcAft>
              <a:buNone/>
            </a:pPr>
            <a:r>
              <a:rPr lang="en-US" sz="600" dirty="0">
                <a:solidFill>
                  <a:srgbClr val="1E293B"/>
                </a:solidFill>
                <a:latin typeface="Calibri" panose="020F0502020204030204" pitchFamily="34" charset="0"/>
                <a:ea typeface="Calibri" panose="020F0502020204030204" pitchFamily="34" charset="-122"/>
                <a:cs typeface="Calibri" panose="020F0502020204030204" pitchFamily="34" charset="-120"/>
              </a:rPr>
              <a:t> </a:t>
            </a:r>
            <a:endParaRPr lang="en-US" sz="1200" dirty="0"/>
          </a:p>
          <a:p>
            <a:pPr marL="342900" indent="-342900">
              <a:spcAft>
                <a:spcPts val="500"/>
              </a:spcAft>
              <a:buSzPct val="100000"/>
              <a:buChar char="•"/>
            </a:pPr>
            <a:r>
              <a:rPr lang="en-US" sz="1200" dirty="0">
                <a:solidFill>
                  <a:srgbClr val="1E293B"/>
                </a:solidFill>
                <a:latin typeface="Calibri" panose="020F0502020204030204" pitchFamily="34" charset="0"/>
                <a:ea typeface="Calibri" panose="020F0502020204030204" pitchFamily="34" charset="-122"/>
                <a:cs typeface="Calibri" panose="020F0502020204030204" pitchFamily="34" charset="-120"/>
              </a:rPr>
              <a:t>Merge Sort: O(n log n) in all cases</a:t>
            </a:r>
            <a:endParaRPr lang="en-US" sz="1200" dirty="0"/>
          </a:p>
          <a:p>
            <a:pPr marL="342900" indent="-342900">
              <a:spcAft>
                <a:spcPts val="500"/>
              </a:spcAft>
              <a:buSzPct val="100000"/>
              <a:buChar char="•"/>
            </a:pPr>
            <a:r>
              <a:rPr lang="en-US" sz="1200" dirty="0">
                <a:solidFill>
                  <a:srgbClr val="1E293B"/>
                </a:solidFill>
                <a:latin typeface="Calibri" panose="020F0502020204030204" pitchFamily="34" charset="0"/>
                <a:ea typeface="Calibri" panose="020F0502020204030204" pitchFamily="34" charset="-122"/>
                <a:cs typeface="Calibri" panose="020F0502020204030204" pitchFamily="34" charset="-120"/>
              </a:rPr>
              <a:t>Quick Sort: O(n log n) average, O(n²) worst case</a:t>
            </a:r>
            <a:endParaRPr lang="en-US" sz="1200" dirty="0"/>
          </a:p>
          <a:p>
            <a:pPr marL="342900" indent="-342900">
              <a:spcAft>
                <a:spcPts val="500"/>
              </a:spcAft>
              <a:buSzPct val="100000"/>
              <a:buChar char="•"/>
            </a:pPr>
            <a:r>
              <a:rPr lang="en-US" sz="1200" dirty="0">
                <a:solidFill>
                  <a:srgbClr val="1E293B"/>
                </a:solidFill>
                <a:latin typeface="Calibri" panose="020F0502020204030204" pitchFamily="34" charset="0"/>
                <a:ea typeface="Calibri" panose="020F0502020204030204" pitchFamily="34" charset="-122"/>
                <a:cs typeface="Calibri" panose="020F0502020204030204" pitchFamily="34" charset="-120"/>
              </a:rPr>
              <a:t>Goal: see growth rates side by side</a:t>
            </a:r>
            <a:endParaRPr lang="en-US" sz="1200" dirty="0"/>
          </a:p>
        </p:txBody>
      </p:sp>
      <p:sp>
        <p:nvSpPr>
          <p:cNvPr id="12" name="Shape 10"/>
          <p:cNvSpPr/>
          <p:nvPr/>
        </p:nvSpPr>
        <p:spPr>
          <a:xfrm>
            <a:off x="4297680" y="1234440"/>
            <a:ext cx="4389120" cy="3383280"/>
          </a:xfrm>
          <a:prstGeom prst="roundRect">
            <a:avLst>
              <a:gd name="adj" fmla="val 2162"/>
            </a:avLst>
          </a:prstGeom>
          <a:solidFill>
            <a:srgbClr val="FFFFFF"/>
          </a:solidFill>
          <a:ln w="9525">
            <a:solidFill>
              <a:srgbClr val="CBD5E1"/>
            </a:solidFill>
            <a:prstDash val="solid"/>
          </a:ln>
        </p:spPr>
      </p:sp>
      <p:sp>
        <p:nvSpPr>
          <p:cNvPr id="13" name="Shape 11"/>
          <p:cNvSpPr/>
          <p:nvPr/>
        </p:nvSpPr>
        <p:spPr>
          <a:xfrm>
            <a:off x="4297680" y="1371600"/>
            <a:ext cx="54864" cy="274320"/>
          </a:xfrm>
          <a:prstGeom prst="rect">
            <a:avLst/>
          </a:prstGeom>
          <a:solidFill>
            <a:srgbClr val="14B8A6"/>
          </a:solidFill>
        </p:spPr>
      </p:sp>
      <p:sp>
        <p:nvSpPr>
          <p:cNvPr id="14" name="Text 12"/>
          <p:cNvSpPr txBox="1"/>
          <p:nvPr/>
        </p:nvSpPr>
        <p:spPr>
          <a:xfrm>
            <a:off x="4480560" y="1344168"/>
            <a:ext cx="4023360" cy="320040"/>
          </a:xfrm>
          <a:prstGeom prst="rect">
            <a:avLst/>
          </a:prstGeom>
          <a:noFill/>
        </p:spPr>
        <p:txBody>
          <a:bodyPr wrap="square" lIns="0" tIns="0" rIns="0" bIns="0" rtlCol="0" anchor="ctr"/>
          <a:lstStyle/>
          <a:p>
            <a:pPr marL="0" indent="0">
              <a:buNone/>
            </a:pPr>
            <a:r>
              <a:rPr lang="en-US" sz="1300" b="1" dirty="0">
                <a:solidFill>
                  <a:srgbClr val="0F172A"/>
                </a:solidFill>
                <a:latin typeface="Calibri" panose="020F0502020204030204" pitchFamily="34" charset="0"/>
                <a:ea typeface="Calibri" panose="020F0502020204030204" pitchFamily="34" charset="-122"/>
                <a:cs typeface="Calibri" panose="020F0502020204030204" pitchFamily="34" charset="-120"/>
              </a:rPr>
              <a:t>Algorithm (Pseudocode)</a:t>
            </a:r>
            <a:endParaRPr lang="en-US" sz="1300" dirty="0"/>
          </a:p>
        </p:txBody>
      </p:sp>
      <p:sp>
        <p:nvSpPr>
          <p:cNvPr id="15" name="Text 13"/>
          <p:cNvSpPr txBox="1"/>
          <p:nvPr/>
        </p:nvSpPr>
        <p:spPr>
          <a:xfrm>
            <a:off x="4480560" y="1737360"/>
            <a:ext cx="4023360" cy="2788920"/>
          </a:xfrm>
          <a:prstGeom prst="rect">
            <a:avLst/>
          </a:prstGeom>
          <a:noFill/>
        </p:spPr>
        <p:txBody>
          <a:bodyPr wrap="square" lIns="0" tIns="0" rIns="0" bIns="0" rtlCol="0" anchor="t"/>
          <a:lstStyle/>
          <a:p>
            <a:pPr marL="0" indent="0">
              <a:spcAft>
                <a:spcPts val="400"/>
              </a:spcAft>
              <a:buNone/>
            </a:pPr>
            <a:r>
              <a:rPr lang="en-US" sz="1050" dirty="0">
                <a:solidFill>
                  <a:srgbClr val="1E293B"/>
                </a:solidFill>
                <a:latin typeface="Consolas" panose="020B0609020204030204" pitchFamily="34" charset="0"/>
                <a:ea typeface="Consolas" panose="020B0609020204030204" pitchFamily="34" charset="-122"/>
                <a:cs typeface="Consolas" panose="020B0609020204030204" pitchFamily="34" charset="-120"/>
              </a:rPr>
              <a:t>MergeSort(A, l, r):</a:t>
            </a:r>
            <a:endParaRPr lang="en-US" sz="1050" dirty="0"/>
          </a:p>
          <a:p>
            <a:pPr marL="0" indent="0">
              <a:spcAft>
                <a:spcPts val="400"/>
              </a:spcAft>
              <a:buNone/>
            </a:pPr>
            <a:r>
              <a:rPr lang="en-US" sz="1050" dirty="0">
                <a:solidFill>
                  <a:srgbClr val="1E293B"/>
                </a:solidFill>
                <a:latin typeface="Consolas" panose="020B0609020204030204" pitchFamily="34" charset="0"/>
                <a:ea typeface="Consolas" panose="020B0609020204030204" pitchFamily="34" charset="-122"/>
                <a:cs typeface="Consolas" panose="020B0609020204030204" pitchFamily="34" charset="-120"/>
              </a:rPr>
              <a:t>  if l &lt; r:</a:t>
            </a:r>
            <a:endParaRPr lang="en-US" sz="1050" dirty="0"/>
          </a:p>
          <a:p>
            <a:pPr marL="0" indent="0">
              <a:spcAft>
                <a:spcPts val="400"/>
              </a:spcAft>
              <a:buNone/>
            </a:pPr>
            <a:r>
              <a:rPr lang="en-US" sz="1050" dirty="0">
                <a:solidFill>
                  <a:srgbClr val="1E293B"/>
                </a:solidFill>
                <a:latin typeface="Consolas" panose="020B0609020204030204" pitchFamily="34" charset="0"/>
                <a:ea typeface="Consolas" panose="020B0609020204030204" pitchFamily="34" charset="-122"/>
                <a:cs typeface="Consolas" panose="020B0609020204030204" pitchFamily="34" charset="-120"/>
              </a:rPr>
              <a:t>    m = (l + r) / 2</a:t>
            </a:r>
            <a:endParaRPr lang="en-US" sz="1050" dirty="0"/>
          </a:p>
          <a:p>
            <a:pPr marL="0" indent="0">
              <a:spcAft>
                <a:spcPts val="400"/>
              </a:spcAft>
              <a:buNone/>
            </a:pPr>
            <a:r>
              <a:rPr lang="en-US" sz="1050" dirty="0">
                <a:solidFill>
                  <a:srgbClr val="1E293B"/>
                </a:solidFill>
                <a:latin typeface="Consolas" panose="020B0609020204030204" pitchFamily="34" charset="0"/>
                <a:ea typeface="Consolas" panose="020B0609020204030204" pitchFamily="34" charset="-122"/>
                <a:cs typeface="Consolas" panose="020B0609020204030204" pitchFamily="34" charset="-120"/>
              </a:rPr>
              <a:t>    MergeSort(A, l, m)</a:t>
            </a:r>
            <a:endParaRPr lang="en-US" sz="1050" dirty="0"/>
          </a:p>
          <a:p>
            <a:pPr marL="0" indent="0">
              <a:spcAft>
                <a:spcPts val="400"/>
              </a:spcAft>
              <a:buNone/>
            </a:pPr>
            <a:r>
              <a:rPr lang="en-US" sz="1050" dirty="0">
                <a:solidFill>
                  <a:srgbClr val="1E293B"/>
                </a:solidFill>
                <a:latin typeface="Consolas" panose="020B0609020204030204" pitchFamily="34" charset="0"/>
                <a:ea typeface="Consolas" panose="020B0609020204030204" pitchFamily="34" charset="-122"/>
                <a:cs typeface="Consolas" panose="020B0609020204030204" pitchFamily="34" charset="-120"/>
              </a:rPr>
              <a:t>    MergeSort(A, m+1, r)</a:t>
            </a:r>
            <a:endParaRPr lang="en-US" sz="1050" dirty="0"/>
          </a:p>
          <a:p>
            <a:pPr marL="0" indent="0">
              <a:spcAft>
                <a:spcPts val="400"/>
              </a:spcAft>
              <a:buNone/>
            </a:pPr>
            <a:r>
              <a:rPr lang="en-US" sz="1050" dirty="0">
                <a:solidFill>
                  <a:srgbClr val="1E293B"/>
                </a:solidFill>
                <a:latin typeface="Consolas" panose="020B0609020204030204" pitchFamily="34" charset="0"/>
                <a:ea typeface="Consolas" panose="020B0609020204030204" pitchFamily="34" charset="-122"/>
                <a:cs typeface="Consolas" panose="020B0609020204030204" pitchFamily="34" charset="-120"/>
              </a:rPr>
              <a:t>    Merge(A, l, m, r)</a:t>
            </a:r>
            <a:endParaRPr lang="en-US" sz="1050" dirty="0"/>
          </a:p>
          <a:p>
            <a:pPr marL="0" indent="0">
              <a:spcAft>
                <a:spcPts val="400"/>
              </a:spcAft>
              <a:buNone/>
            </a:pPr>
            <a:endParaRPr lang="en-US" sz="1050" dirty="0"/>
          </a:p>
          <a:p>
            <a:pPr marL="0" indent="0">
              <a:spcAft>
                <a:spcPts val="400"/>
              </a:spcAft>
              <a:buNone/>
            </a:pPr>
            <a:r>
              <a:rPr lang="en-US" sz="1050" dirty="0">
                <a:solidFill>
                  <a:srgbClr val="1E293B"/>
                </a:solidFill>
                <a:latin typeface="Consolas" panose="020B0609020204030204" pitchFamily="34" charset="0"/>
                <a:ea typeface="Consolas" panose="020B0609020204030204" pitchFamily="34" charset="-122"/>
                <a:cs typeface="Consolas" panose="020B0609020204030204" pitchFamily="34" charset="-120"/>
              </a:rPr>
              <a:t>QuickSort(A, l, r):</a:t>
            </a:r>
            <a:endParaRPr lang="en-US" sz="1050" dirty="0"/>
          </a:p>
          <a:p>
            <a:pPr marL="0" indent="0">
              <a:spcAft>
                <a:spcPts val="400"/>
              </a:spcAft>
              <a:buNone/>
            </a:pPr>
            <a:r>
              <a:rPr lang="en-US" sz="1050" dirty="0">
                <a:solidFill>
                  <a:srgbClr val="1E293B"/>
                </a:solidFill>
                <a:latin typeface="Consolas" panose="020B0609020204030204" pitchFamily="34" charset="0"/>
                <a:ea typeface="Consolas" panose="020B0609020204030204" pitchFamily="34" charset="-122"/>
                <a:cs typeface="Consolas" panose="020B0609020204030204" pitchFamily="34" charset="-120"/>
              </a:rPr>
              <a:t>  if l &lt; r:</a:t>
            </a:r>
            <a:endParaRPr lang="en-US" sz="1050" dirty="0"/>
          </a:p>
          <a:p>
            <a:pPr marL="0" indent="0">
              <a:spcAft>
                <a:spcPts val="400"/>
              </a:spcAft>
              <a:buNone/>
            </a:pPr>
            <a:r>
              <a:rPr lang="en-US" sz="1050" dirty="0">
                <a:solidFill>
                  <a:srgbClr val="1E293B"/>
                </a:solidFill>
                <a:latin typeface="Consolas" panose="020B0609020204030204" pitchFamily="34" charset="0"/>
                <a:ea typeface="Consolas" panose="020B0609020204030204" pitchFamily="34" charset="-122"/>
                <a:cs typeface="Consolas" panose="020B0609020204030204" pitchFamily="34" charset="-120"/>
              </a:rPr>
              <a:t>    p = Partition(A, l, r)</a:t>
            </a:r>
            <a:endParaRPr lang="en-US" sz="1050" dirty="0"/>
          </a:p>
          <a:p>
            <a:pPr marL="0" indent="0">
              <a:spcAft>
                <a:spcPts val="400"/>
              </a:spcAft>
              <a:buNone/>
            </a:pPr>
            <a:r>
              <a:rPr lang="en-US" sz="1050" dirty="0">
                <a:solidFill>
                  <a:srgbClr val="1E293B"/>
                </a:solidFill>
                <a:latin typeface="Consolas" panose="020B0609020204030204" pitchFamily="34" charset="0"/>
                <a:ea typeface="Consolas" panose="020B0609020204030204" pitchFamily="34" charset="-122"/>
                <a:cs typeface="Consolas" panose="020B0609020204030204" pitchFamily="34" charset="-120"/>
              </a:rPr>
              <a:t>    QuickSort(A, l, p-1)</a:t>
            </a:r>
            <a:endParaRPr lang="en-US" sz="1050" dirty="0"/>
          </a:p>
          <a:p>
            <a:pPr marL="0" indent="0">
              <a:spcAft>
                <a:spcPts val="400"/>
              </a:spcAft>
              <a:buNone/>
            </a:pPr>
            <a:r>
              <a:rPr lang="en-US" sz="1050" dirty="0">
                <a:solidFill>
                  <a:srgbClr val="1E293B"/>
                </a:solidFill>
                <a:latin typeface="Consolas" panose="020B0609020204030204" pitchFamily="34" charset="0"/>
                <a:ea typeface="Consolas" panose="020B0609020204030204" pitchFamily="34" charset="-122"/>
                <a:cs typeface="Consolas" panose="020B0609020204030204" pitchFamily="34" charset="-120"/>
              </a:rPr>
              <a:t>    QuickSort(A, p+1, r)</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F172A"/>
          </a:solidFill>
        </p:spPr>
      </p:sp>
      <p:sp>
        <p:nvSpPr>
          <p:cNvPr id="3" name="Shape 1"/>
          <p:cNvSpPr/>
          <p:nvPr/>
        </p:nvSpPr>
        <p:spPr>
          <a:xfrm>
            <a:off x="0" y="914400"/>
            <a:ext cx="9144000" cy="54864"/>
          </a:xfrm>
          <a:prstGeom prst="rect">
            <a:avLst/>
          </a:prstGeom>
          <a:solidFill>
            <a:srgbClr val="14B8A6"/>
          </a:solidFill>
        </p:spPr>
      </p:sp>
      <p:sp>
        <p:nvSpPr>
          <p:cNvPr id="4" name="Text 2"/>
          <p:cNvSpPr txBox="1"/>
          <p:nvPr/>
        </p:nvSpPr>
        <p:spPr>
          <a:xfrm>
            <a:off x="457200" y="109728"/>
            <a:ext cx="8229600" cy="274320"/>
          </a:xfrm>
          <a:prstGeom prst="rect">
            <a:avLst/>
          </a:prstGeom>
          <a:noFill/>
        </p:spPr>
        <p:txBody>
          <a:bodyPr wrap="square" lIns="0" tIns="0" rIns="0" bIns="0" rtlCol="0" anchor="ctr"/>
          <a:lstStyle/>
          <a:p>
            <a:pPr marL="0" indent="0">
              <a:buNone/>
            </a:pPr>
            <a:r>
              <a:rPr lang="en-US" sz="1100" b="1" dirty="0">
                <a:solidFill>
                  <a:srgbClr val="14B8A6"/>
                </a:solidFill>
                <a:latin typeface="Calibri" panose="020F0502020204030204" pitchFamily="34" charset="0"/>
                <a:ea typeface="Calibri" panose="020F0502020204030204" pitchFamily="34" charset="-122"/>
                <a:cs typeface="Calibri" panose="020F0502020204030204" pitchFamily="34" charset="-120"/>
              </a:rPr>
              <a:t>Unit I – Algorithm Analysis  |  Project 1</a:t>
            </a:r>
            <a:endParaRPr lang="en-US" sz="1100" dirty="0"/>
          </a:p>
        </p:txBody>
      </p:sp>
      <p:sp>
        <p:nvSpPr>
          <p:cNvPr id="5" name="Text 3"/>
          <p:cNvSpPr txBox="1"/>
          <p:nvPr/>
        </p:nvSpPr>
        <p:spPr>
          <a:xfrm>
            <a:off x="457200" y="384048"/>
            <a:ext cx="8229600" cy="411480"/>
          </a:xfrm>
          <a:prstGeom prst="rect">
            <a:avLst/>
          </a:prstGeom>
          <a:noFill/>
        </p:spPr>
        <p:txBody>
          <a:bodyPr wrap="square" lIns="0" tIns="0" rIns="0" bIns="0" rtlCol="0" anchor="ctr"/>
          <a:lstStyle/>
          <a:p>
            <a:pPr marL="0" indent="0">
              <a:buNone/>
            </a:pPr>
            <a:r>
              <a:rPr lang="en-US" sz="2200" b="1" dirty="0">
                <a:solidFill>
                  <a:srgbClr val="FFFFFF"/>
                </a:solidFill>
                <a:latin typeface="Calibri" panose="020F0502020204030204" pitchFamily="34" charset="0"/>
                <a:ea typeface="Calibri" panose="020F0502020204030204" pitchFamily="34" charset="-122"/>
                <a:cs typeface="Calibri" panose="020F0502020204030204" pitchFamily="34" charset="-120"/>
              </a:rPr>
              <a:t>Sorting Complexity Visualizer: Prompt and Visualization</a:t>
            </a:r>
            <a:endParaRPr lang="en-US" sz="2200" dirty="0"/>
          </a:p>
        </p:txBody>
      </p:sp>
      <p:sp>
        <p:nvSpPr>
          <p:cNvPr id="6" name="Text 4"/>
          <p:cNvSpPr txBox="1"/>
          <p:nvPr/>
        </p:nvSpPr>
        <p:spPr>
          <a:xfrm>
            <a:off x="457200" y="4800600"/>
            <a:ext cx="5486400" cy="228600"/>
          </a:xfrm>
          <a:prstGeom prst="rect">
            <a:avLst/>
          </a:prstGeom>
          <a:noFill/>
        </p:spPr>
        <p:txBody>
          <a:bodyPr wrap="square" lIns="0" tIns="0" rIns="0" bIns="0" rtlCol="0" anchor="ctr"/>
          <a:lstStyle/>
          <a:p>
            <a:pPr marL="0" indent="0">
              <a:buNone/>
            </a:pPr>
            <a:r>
              <a:rPr lang="en-US" sz="900" dirty="0">
                <a:solidFill>
                  <a:srgbClr val="64748B"/>
                </a:solidFill>
                <a:latin typeface="Calibri" panose="020F0502020204030204" pitchFamily="34" charset="0"/>
                <a:ea typeface="Calibri" panose="020F0502020204030204" pitchFamily="34" charset="-122"/>
                <a:cs typeface="Calibri" panose="020F0502020204030204" pitchFamily="34" charset="-120"/>
              </a:rPr>
              <a:t>Group 13  |  DAA Macro Project</a:t>
            </a:r>
            <a:endParaRPr lang="en-US" sz="900" dirty="0"/>
          </a:p>
        </p:txBody>
      </p:sp>
      <p:sp>
        <p:nvSpPr>
          <p:cNvPr id="7" name="Shape 5"/>
          <p:cNvSpPr/>
          <p:nvPr/>
        </p:nvSpPr>
        <p:spPr>
          <a:xfrm>
            <a:off x="457200" y="1234440"/>
            <a:ext cx="3108960" cy="1508760"/>
          </a:xfrm>
          <a:prstGeom prst="roundRect">
            <a:avLst>
              <a:gd name="adj" fmla="val 4848"/>
            </a:avLst>
          </a:prstGeom>
          <a:solidFill>
            <a:srgbClr val="FFFFFF"/>
          </a:solidFill>
          <a:ln w="9525">
            <a:solidFill>
              <a:srgbClr val="CBD5E1"/>
            </a:solidFill>
            <a:prstDash val="solid"/>
          </a:ln>
        </p:spPr>
      </p:sp>
      <p:sp>
        <p:nvSpPr>
          <p:cNvPr id="8" name="Shape 6"/>
          <p:cNvSpPr/>
          <p:nvPr/>
        </p:nvSpPr>
        <p:spPr>
          <a:xfrm>
            <a:off x="457200" y="1371600"/>
            <a:ext cx="54864" cy="274320"/>
          </a:xfrm>
          <a:prstGeom prst="rect">
            <a:avLst/>
          </a:prstGeom>
          <a:solidFill>
            <a:srgbClr val="14B8A6"/>
          </a:solidFill>
        </p:spPr>
      </p:sp>
      <p:sp>
        <p:nvSpPr>
          <p:cNvPr id="9" name="Text 7"/>
          <p:cNvSpPr txBox="1"/>
          <p:nvPr/>
        </p:nvSpPr>
        <p:spPr>
          <a:xfrm>
            <a:off x="640080" y="1344168"/>
            <a:ext cx="2743200" cy="320040"/>
          </a:xfrm>
          <a:prstGeom prst="rect">
            <a:avLst/>
          </a:prstGeom>
          <a:noFill/>
        </p:spPr>
        <p:txBody>
          <a:bodyPr wrap="square" lIns="0" tIns="0" rIns="0" bIns="0" rtlCol="0" anchor="ctr"/>
          <a:lstStyle/>
          <a:p>
            <a:pPr marL="0" indent="0">
              <a:buNone/>
            </a:pPr>
            <a:r>
              <a:rPr lang="en-US" sz="1300" b="1" dirty="0">
                <a:solidFill>
                  <a:srgbClr val="0F172A"/>
                </a:solidFill>
                <a:latin typeface="Calibri" panose="020F0502020204030204" pitchFamily="34" charset="0"/>
                <a:ea typeface="Calibri" panose="020F0502020204030204" pitchFamily="34" charset="-122"/>
                <a:cs typeface="Calibri" panose="020F0502020204030204" pitchFamily="34" charset="-120"/>
              </a:rPr>
              <a:t>Prompt Used</a:t>
            </a:r>
            <a:endParaRPr lang="en-US" sz="1300" dirty="0"/>
          </a:p>
        </p:txBody>
      </p:sp>
      <p:sp>
        <p:nvSpPr>
          <p:cNvPr id="10" name="Text 8"/>
          <p:cNvSpPr txBox="1"/>
          <p:nvPr/>
        </p:nvSpPr>
        <p:spPr>
          <a:xfrm>
            <a:off x="640080" y="1737360"/>
            <a:ext cx="2743200" cy="914400"/>
          </a:xfrm>
          <a:prstGeom prst="rect">
            <a:avLst/>
          </a:prstGeom>
          <a:noFill/>
        </p:spPr>
        <p:txBody>
          <a:bodyPr wrap="square" lIns="0" tIns="0" rIns="0" bIns="0" rtlCol="0" anchor="t"/>
          <a:lstStyle/>
          <a:p>
            <a:pPr marL="0" indent="0">
              <a:spcAft>
                <a:spcPts val="400"/>
              </a:spcAft>
              <a:buNone/>
            </a:pPr>
            <a:r>
              <a:rPr lang="en-US" sz="1200" dirty="0">
                <a:solidFill>
                  <a:srgbClr val="1E293B"/>
                </a:solidFill>
                <a:latin typeface="Calibri" panose="020F0502020204030204" pitchFamily="34" charset="0"/>
                <a:ea typeface="Calibri" panose="020F0502020204030204" pitchFamily="34" charset="-122"/>
                <a:cs typeface="Calibri" panose="020F0502020204030204" pitchFamily="34" charset="-120"/>
              </a:rPr>
              <a:t>"Generate a graph comparing time complexity of Merge and Quick Sort for n = 10, 100, 1000."</a:t>
            </a:r>
            <a:endParaRPr lang="en-US" sz="1200" dirty="0"/>
          </a:p>
        </p:txBody>
      </p:sp>
      <p:sp>
        <p:nvSpPr>
          <p:cNvPr id="11" name="Shape 9"/>
          <p:cNvSpPr/>
          <p:nvPr/>
        </p:nvSpPr>
        <p:spPr>
          <a:xfrm>
            <a:off x="457200" y="2880360"/>
            <a:ext cx="3108960" cy="1737360"/>
          </a:xfrm>
          <a:prstGeom prst="roundRect">
            <a:avLst>
              <a:gd name="adj" fmla="val 4211"/>
            </a:avLst>
          </a:prstGeom>
          <a:solidFill>
            <a:srgbClr val="FFFFFF"/>
          </a:solidFill>
          <a:ln w="9525">
            <a:solidFill>
              <a:srgbClr val="CBD5E1"/>
            </a:solidFill>
            <a:prstDash val="solid"/>
          </a:ln>
        </p:spPr>
      </p:sp>
      <p:sp>
        <p:nvSpPr>
          <p:cNvPr id="12" name="Shape 10"/>
          <p:cNvSpPr/>
          <p:nvPr/>
        </p:nvSpPr>
        <p:spPr>
          <a:xfrm>
            <a:off x="457200" y="3017520"/>
            <a:ext cx="54864" cy="274320"/>
          </a:xfrm>
          <a:prstGeom prst="rect">
            <a:avLst/>
          </a:prstGeom>
          <a:solidFill>
            <a:srgbClr val="14B8A6"/>
          </a:solidFill>
        </p:spPr>
      </p:sp>
      <p:sp>
        <p:nvSpPr>
          <p:cNvPr id="13" name="Text 11"/>
          <p:cNvSpPr txBox="1"/>
          <p:nvPr/>
        </p:nvSpPr>
        <p:spPr>
          <a:xfrm>
            <a:off x="640080" y="2990088"/>
            <a:ext cx="2743200" cy="320040"/>
          </a:xfrm>
          <a:prstGeom prst="rect">
            <a:avLst/>
          </a:prstGeom>
          <a:noFill/>
        </p:spPr>
        <p:txBody>
          <a:bodyPr wrap="square" lIns="0" tIns="0" rIns="0" bIns="0" rtlCol="0" anchor="ctr"/>
          <a:lstStyle/>
          <a:p>
            <a:pPr marL="0" indent="0">
              <a:buNone/>
            </a:pPr>
            <a:r>
              <a:rPr lang="en-US" sz="1300" b="1" dirty="0">
                <a:solidFill>
                  <a:srgbClr val="0F172A"/>
                </a:solidFill>
                <a:latin typeface="Calibri" panose="020F0502020204030204" pitchFamily="34" charset="0"/>
                <a:ea typeface="Calibri" panose="020F0502020204030204" pitchFamily="34" charset="-122"/>
                <a:cs typeface="Calibri" panose="020F0502020204030204" pitchFamily="34" charset="-120"/>
              </a:rPr>
              <a:t>How It Works</a:t>
            </a:r>
            <a:endParaRPr lang="en-US" sz="1300" dirty="0"/>
          </a:p>
        </p:txBody>
      </p:sp>
      <p:sp>
        <p:nvSpPr>
          <p:cNvPr id="14" name="Text 12"/>
          <p:cNvSpPr txBox="1"/>
          <p:nvPr/>
        </p:nvSpPr>
        <p:spPr>
          <a:xfrm>
            <a:off x="640080" y="3383280"/>
            <a:ext cx="2743200" cy="1143000"/>
          </a:xfrm>
          <a:prstGeom prst="rect">
            <a:avLst/>
          </a:prstGeom>
          <a:noFill/>
        </p:spPr>
        <p:txBody>
          <a:bodyPr wrap="square" lIns="0" tIns="0" rIns="0" bIns="0" rtlCol="0" anchor="t"/>
          <a:lstStyle/>
          <a:p>
            <a:pPr marL="0" indent="0">
              <a:spcAft>
                <a:spcPts val="400"/>
              </a:spcAft>
              <a:buNone/>
            </a:pPr>
            <a:r>
              <a:rPr lang="en-US" sz="1050" dirty="0">
                <a:solidFill>
                  <a:srgbClr val="1E293B"/>
                </a:solidFill>
                <a:latin typeface="Calibri" panose="020F0502020204030204" pitchFamily="34" charset="0"/>
                <a:ea typeface="Calibri" panose="020F0502020204030204" pitchFamily="34" charset="-122"/>
                <a:cs typeface="Calibri" panose="020F0502020204030204" pitchFamily="34" charset="-120"/>
              </a:rPr>
              <a:t>Each algorithm is run for the three input sizes and the operation count or time is plotted. The curves show Merge Sort growing steadily as n log n, while Quick Sort matches it on average but can climb sharply in its worst case.</a:t>
            </a:r>
            <a:endParaRPr lang="en-US" sz="1050" dirty="0"/>
          </a:p>
        </p:txBody>
      </p:sp>
      <p:sp>
        <p:nvSpPr>
          <p:cNvPr id="15" name="Shape 13"/>
          <p:cNvSpPr/>
          <p:nvPr/>
        </p:nvSpPr>
        <p:spPr>
          <a:xfrm>
            <a:off x="3749040" y="1234440"/>
            <a:ext cx="4937760" cy="3383280"/>
          </a:xfrm>
          <a:prstGeom prst="roundRect">
            <a:avLst>
              <a:gd name="adj" fmla="val 2162"/>
            </a:avLst>
          </a:prstGeom>
          <a:solidFill>
            <a:srgbClr val="FFFFFF"/>
          </a:solidFill>
          <a:ln w="19050">
            <a:solidFill>
              <a:srgbClr val="14B8A6"/>
            </a:solidFill>
            <a:prstDash val="dash"/>
          </a:ln>
        </p:spPr>
      </p:sp>
      <p:pic>
        <p:nvPicPr>
          <p:cNvPr id="16"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3840480" y="1588770"/>
            <a:ext cx="4754880" cy="267462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indefinite"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F172A"/>
          </a:solidFill>
        </p:spPr>
      </p:sp>
      <p:sp>
        <p:nvSpPr>
          <p:cNvPr id="3" name="Shape 1"/>
          <p:cNvSpPr/>
          <p:nvPr/>
        </p:nvSpPr>
        <p:spPr>
          <a:xfrm>
            <a:off x="0" y="914400"/>
            <a:ext cx="9144000" cy="54864"/>
          </a:xfrm>
          <a:prstGeom prst="rect">
            <a:avLst/>
          </a:prstGeom>
          <a:solidFill>
            <a:srgbClr val="14B8A6"/>
          </a:solidFill>
        </p:spPr>
      </p:sp>
      <p:sp>
        <p:nvSpPr>
          <p:cNvPr id="4" name="Text 2"/>
          <p:cNvSpPr txBox="1"/>
          <p:nvPr/>
        </p:nvSpPr>
        <p:spPr>
          <a:xfrm>
            <a:off x="457200" y="109728"/>
            <a:ext cx="8229600" cy="274320"/>
          </a:xfrm>
          <a:prstGeom prst="rect">
            <a:avLst/>
          </a:prstGeom>
          <a:noFill/>
        </p:spPr>
        <p:txBody>
          <a:bodyPr wrap="square" lIns="0" tIns="0" rIns="0" bIns="0" rtlCol="0" anchor="ctr"/>
          <a:lstStyle/>
          <a:p>
            <a:pPr marL="0" indent="0">
              <a:buNone/>
            </a:pPr>
            <a:r>
              <a:rPr lang="en-US" sz="1100" b="1" dirty="0">
                <a:solidFill>
                  <a:srgbClr val="14B8A6"/>
                </a:solidFill>
                <a:latin typeface="Calibri" panose="020F0502020204030204" pitchFamily="34" charset="0"/>
                <a:ea typeface="Calibri" panose="020F0502020204030204" pitchFamily="34" charset="-122"/>
                <a:cs typeface="Calibri" panose="020F0502020204030204" pitchFamily="34" charset="-120"/>
              </a:rPr>
              <a:t>Unit II – Divide and Conquer / Greedy  |  Project 6</a:t>
            </a:r>
            <a:endParaRPr lang="en-US" sz="1100" dirty="0"/>
          </a:p>
        </p:txBody>
      </p:sp>
      <p:sp>
        <p:nvSpPr>
          <p:cNvPr id="5" name="Text 3"/>
          <p:cNvSpPr txBox="1"/>
          <p:nvPr/>
        </p:nvSpPr>
        <p:spPr>
          <a:xfrm>
            <a:off x="457200" y="384048"/>
            <a:ext cx="8229600" cy="411480"/>
          </a:xfrm>
          <a:prstGeom prst="rect">
            <a:avLst/>
          </a:prstGeom>
          <a:noFill/>
        </p:spPr>
        <p:txBody>
          <a:bodyPr wrap="square" lIns="0" tIns="0" rIns="0" bIns="0" rtlCol="0" anchor="ctr"/>
          <a:lstStyle/>
          <a:p>
            <a:pPr marL="0" indent="0">
              <a:buNone/>
            </a:pPr>
            <a:r>
              <a:rPr lang="en-US" sz="2200" b="1" dirty="0">
                <a:solidFill>
                  <a:srgbClr val="FFFFFF"/>
                </a:solidFill>
                <a:latin typeface="Calibri" panose="020F0502020204030204" pitchFamily="34" charset="0"/>
                <a:ea typeface="Calibri" panose="020F0502020204030204" pitchFamily="34" charset="-122"/>
                <a:cs typeface="Calibri" panose="020F0502020204030204" pitchFamily="34" charset="-120"/>
              </a:rPr>
              <a:t>Optimal Merge Pattern Tree</a:t>
            </a:r>
            <a:endParaRPr lang="en-US" sz="2200" dirty="0"/>
          </a:p>
        </p:txBody>
      </p:sp>
      <p:sp>
        <p:nvSpPr>
          <p:cNvPr id="6" name="Text 4"/>
          <p:cNvSpPr txBox="1"/>
          <p:nvPr/>
        </p:nvSpPr>
        <p:spPr>
          <a:xfrm>
            <a:off x="457200" y="4800600"/>
            <a:ext cx="5486400" cy="228600"/>
          </a:xfrm>
          <a:prstGeom prst="rect">
            <a:avLst/>
          </a:prstGeom>
          <a:noFill/>
        </p:spPr>
        <p:txBody>
          <a:bodyPr wrap="square" lIns="0" tIns="0" rIns="0" bIns="0" rtlCol="0" anchor="ctr"/>
          <a:lstStyle/>
          <a:p>
            <a:pPr marL="0" indent="0">
              <a:buNone/>
            </a:pPr>
            <a:r>
              <a:rPr lang="en-US" sz="900" dirty="0">
                <a:solidFill>
                  <a:srgbClr val="64748B"/>
                </a:solidFill>
                <a:latin typeface="Calibri" panose="020F0502020204030204" pitchFamily="34" charset="0"/>
                <a:ea typeface="Calibri" panose="020F0502020204030204" pitchFamily="34" charset="-122"/>
                <a:cs typeface="Calibri" panose="020F0502020204030204" pitchFamily="34" charset="-120"/>
              </a:rPr>
              <a:t>Group 13  |  DAA Macro Project</a:t>
            </a:r>
            <a:endParaRPr lang="en-US" sz="900" dirty="0"/>
          </a:p>
        </p:txBody>
      </p:sp>
      <p:sp>
        <p:nvSpPr>
          <p:cNvPr id="7" name="Shape 5"/>
          <p:cNvSpPr/>
          <p:nvPr/>
        </p:nvSpPr>
        <p:spPr>
          <a:xfrm>
            <a:off x="457200" y="1234440"/>
            <a:ext cx="3657600" cy="3383280"/>
          </a:xfrm>
          <a:prstGeom prst="roundRect">
            <a:avLst>
              <a:gd name="adj" fmla="val 2162"/>
            </a:avLst>
          </a:prstGeom>
          <a:solidFill>
            <a:srgbClr val="FFFFFF"/>
          </a:solidFill>
          <a:ln w="9525">
            <a:solidFill>
              <a:srgbClr val="CBD5E1"/>
            </a:solidFill>
            <a:prstDash val="solid"/>
          </a:ln>
        </p:spPr>
      </p:sp>
      <p:sp>
        <p:nvSpPr>
          <p:cNvPr id="8" name="Shape 6"/>
          <p:cNvSpPr/>
          <p:nvPr/>
        </p:nvSpPr>
        <p:spPr>
          <a:xfrm>
            <a:off x="457200" y="1371600"/>
            <a:ext cx="54864" cy="274320"/>
          </a:xfrm>
          <a:prstGeom prst="rect">
            <a:avLst/>
          </a:prstGeom>
          <a:solidFill>
            <a:srgbClr val="14B8A6"/>
          </a:solidFill>
        </p:spPr>
      </p:sp>
      <p:sp>
        <p:nvSpPr>
          <p:cNvPr id="9" name="Text 7"/>
          <p:cNvSpPr txBox="1"/>
          <p:nvPr/>
        </p:nvSpPr>
        <p:spPr>
          <a:xfrm>
            <a:off x="640080" y="1344168"/>
            <a:ext cx="3291840" cy="320040"/>
          </a:xfrm>
          <a:prstGeom prst="rect">
            <a:avLst/>
          </a:prstGeom>
          <a:noFill/>
        </p:spPr>
        <p:txBody>
          <a:bodyPr wrap="square" lIns="0" tIns="0" rIns="0" bIns="0" rtlCol="0" anchor="ctr"/>
          <a:lstStyle/>
          <a:p>
            <a:pPr marL="0" indent="0">
              <a:buNone/>
            </a:pPr>
            <a:r>
              <a:rPr lang="en-US" sz="1300" b="1" dirty="0">
                <a:solidFill>
                  <a:srgbClr val="0F172A"/>
                </a:solidFill>
                <a:latin typeface="Calibri" panose="020F0502020204030204" pitchFamily="34" charset="0"/>
                <a:ea typeface="Calibri" panose="020F0502020204030204" pitchFamily="34" charset="-122"/>
                <a:cs typeface="Calibri" panose="020F0502020204030204" pitchFamily="34" charset="-120"/>
              </a:rPr>
              <a:t>Problem and Key Ideas</a:t>
            </a:r>
            <a:endParaRPr lang="en-US" sz="1300" dirty="0"/>
          </a:p>
        </p:txBody>
      </p:sp>
      <p:sp>
        <p:nvSpPr>
          <p:cNvPr id="10" name="Text 8"/>
          <p:cNvSpPr txBox="1"/>
          <p:nvPr/>
        </p:nvSpPr>
        <p:spPr>
          <a:xfrm>
            <a:off x="640080" y="1737360"/>
            <a:ext cx="3291840" cy="2788920"/>
          </a:xfrm>
          <a:prstGeom prst="rect">
            <a:avLst/>
          </a:prstGeom>
          <a:noFill/>
        </p:spPr>
        <p:txBody>
          <a:bodyPr wrap="square" lIns="0" tIns="0" rIns="0" bIns="0" rtlCol="0" anchor="t"/>
          <a:lstStyle/>
          <a:p>
            <a:pPr marL="0" indent="0">
              <a:spcAft>
                <a:spcPts val="400"/>
              </a:spcAft>
              <a:buNone/>
            </a:pPr>
            <a:endParaRPr lang="en-US" sz="1200" dirty="0"/>
          </a:p>
        </p:txBody>
      </p:sp>
      <p:sp>
        <p:nvSpPr>
          <p:cNvPr id="11" name="Text 9"/>
          <p:cNvSpPr txBox="1"/>
          <p:nvPr/>
        </p:nvSpPr>
        <p:spPr>
          <a:xfrm>
            <a:off x="640080" y="1737360"/>
            <a:ext cx="3291840" cy="2788920"/>
          </a:xfrm>
          <a:prstGeom prst="rect">
            <a:avLst/>
          </a:prstGeom>
          <a:noFill/>
        </p:spPr>
        <p:txBody>
          <a:bodyPr wrap="square" lIns="0" tIns="0" rIns="0" bIns="0" rtlCol="0" anchor="t"/>
          <a:lstStyle/>
          <a:p>
            <a:pPr marL="0" indent="0">
              <a:spcAft>
                <a:spcPts val="500"/>
              </a:spcAft>
              <a:buNone/>
            </a:pPr>
            <a:r>
              <a:rPr lang="en-US" sz="1200" dirty="0">
                <a:solidFill>
                  <a:srgbClr val="1E293B"/>
                </a:solidFill>
                <a:latin typeface="Calibri" panose="020F0502020204030204" pitchFamily="34" charset="0"/>
                <a:ea typeface="Calibri" panose="020F0502020204030204" pitchFamily="34" charset="-122"/>
                <a:cs typeface="Calibri" panose="020F0502020204030204" pitchFamily="34" charset="-120"/>
              </a:rPr>
              <a:t>Merge files of sizes 10, 20, 30 and 40 into one file with the minimum total number of record moves.</a:t>
            </a:r>
            <a:endParaRPr lang="en-US" sz="1200" dirty="0"/>
          </a:p>
          <a:p>
            <a:pPr marL="0" indent="0">
              <a:spcAft>
                <a:spcPts val="500"/>
              </a:spcAft>
              <a:buNone/>
            </a:pPr>
            <a:r>
              <a:rPr lang="en-US" sz="600" dirty="0">
                <a:solidFill>
                  <a:srgbClr val="1E293B"/>
                </a:solidFill>
                <a:latin typeface="Calibri" panose="020F0502020204030204" pitchFamily="34" charset="0"/>
                <a:ea typeface="Calibri" panose="020F0502020204030204" pitchFamily="34" charset="-122"/>
                <a:cs typeface="Calibri" panose="020F0502020204030204" pitchFamily="34" charset="-120"/>
              </a:rPr>
              <a:t> </a:t>
            </a:r>
            <a:endParaRPr lang="en-US" sz="1200" dirty="0"/>
          </a:p>
          <a:p>
            <a:pPr marL="342900" indent="-342900">
              <a:spcAft>
                <a:spcPts val="500"/>
              </a:spcAft>
              <a:buSzPct val="100000"/>
              <a:buChar char="•"/>
            </a:pPr>
            <a:r>
              <a:rPr lang="en-US" sz="1200" dirty="0">
                <a:solidFill>
                  <a:srgbClr val="1E293B"/>
                </a:solidFill>
                <a:latin typeface="Calibri" panose="020F0502020204030204" pitchFamily="34" charset="0"/>
                <a:ea typeface="Calibri" panose="020F0502020204030204" pitchFamily="34" charset="-122"/>
                <a:cs typeface="Calibri" panose="020F0502020204030204" pitchFamily="34" charset="-120"/>
              </a:rPr>
              <a:t>Greedy rule: always merge the two smallest files</a:t>
            </a:r>
            <a:endParaRPr lang="en-US" sz="1200" dirty="0"/>
          </a:p>
          <a:p>
            <a:pPr marL="342900" indent="-342900">
              <a:spcAft>
                <a:spcPts val="500"/>
              </a:spcAft>
              <a:buSzPct val="100000"/>
              <a:buChar char="•"/>
            </a:pPr>
            <a:r>
              <a:rPr lang="en-US" sz="1200" dirty="0">
                <a:solidFill>
                  <a:srgbClr val="1E293B"/>
                </a:solidFill>
                <a:latin typeface="Calibri" panose="020F0502020204030204" pitchFamily="34" charset="0"/>
                <a:ea typeface="Calibri" panose="020F0502020204030204" pitchFamily="34" charset="-122"/>
                <a:cs typeface="Calibri" panose="020F0502020204030204" pitchFamily="34" charset="-120"/>
              </a:rPr>
              <a:t>Uses a min-heap to pick the smallest sizes</a:t>
            </a:r>
            <a:endParaRPr lang="en-US" sz="1200" dirty="0"/>
          </a:p>
          <a:p>
            <a:pPr marL="342900" indent="-342900">
              <a:spcAft>
                <a:spcPts val="500"/>
              </a:spcAft>
              <a:buSzPct val="100000"/>
              <a:buChar char="•"/>
            </a:pPr>
            <a:r>
              <a:rPr lang="en-US" sz="1200" dirty="0">
                <a:solidFill>
                  <a:srgbClr val="1E293B"/>
                </a:solidFill>
                <a:latin typeface="Calibri" panose="020F0502020204030204" pitchFamily="34" charset="0"/>
                <a:ea typeface="Calibri" panose="020F0502020204030204" pitchFamily="34" charset="-122"/>
                <a:cs typeface="Calibri" panose="020F0502020204030204" pitchFamily="34" charset="-120"/>
              </a:rPr>
              <a:t>Merges: 10+20=30, 30+30=60, 60+40=100 (cost 190)</a:t>
            </a:r>
            <a:endParaRPr lang="en-US" sz="1200" dirty="0"/>
          </a:p>
        </p:txBody>
      </p:sp>
      <p:sp>
        <p:nvSpPr>
          <p:cNvPr id="12" name="Shape 10"/>
          <p:cNvSpPr/>
          <p:nvPr/>
        </p:nvSpPr>
        <p:spPr>
          <a:xfrm>
            <a:off x="4297680" y="1234440"/>
            <a:ext cx="4389120" cy="3383280"/>
          </a:xfrm>
          <a:prstGeom prst="roundRect">
            <a:avLst>
              <a:gd name="adj" fmla="val 2162"/>
            </a:avLst>
          </a:prstGeom>
          <a:solidFill>
            <a:srgbClr val="FFFFFF"/>
          </a:solidFill>
          <a:ln w="9525">
            <a:solidFill>
              <a:srgbClr val="CBD5E1"/>
            </a:solidFill>
            <a:prstDash val="solid"/>
          </a:ln>
        </p:spPr>
      </p:sp>
      <p:sp>
        <p:nvSpPr>
          <p:cNvPr id="13" name="Shape 11"/>
          <p:cNvSpPr/>
          <p:nvPr/>
        </p:nvSpPr>
        <p:spPr>
          <a:xfrm>
            <a:off x="4297680" y="1371600"/>
            <a:ext cx="54864" cy="274320"/>
          </a:xfrm>
          <a:prstGeom prst="rect">
            <a:avLst/>
          </a:prstGeom>
          <a:solidFill>
            <a:srgbClr val="14B8A6"/>
          </a:solidFill>
        </p:spPr>
      </p:sp>
      <p:sp>
        <p:nvSpPr>
          <p:cNvPr id="14" name="Text 12"/>
          <p:cNvSpPr txBox="1"/>
          <p:nvPr/>
        </p:nvSpPr>
        <p:spPr>
          <a:xfrm>
            <a:off x="4480560" y="1344168"/>
            <a:ext cx="4023360" cy="320040"/>
          </a:xfrm>
          <a:prstGeom prst="rect">
            <a:avLst/>
          </a:prstGeom>
          <a:noFill/>
        </p:spPr>
        <p:txBody>
          <a:bodyPr wrap="square" lIns="0" tIns="0" rIns="0" bIns="0" rtlCol="0" anchor="ctr"/>
          <a:lstStyle/>
          <a:p>
            <a:pPr marL="0" indent="0">
              <a:buNone/>
            </a:pPr>
            <a:r>
              <a:rPr lang="en-US" sz="1300" b="1" dirty="0">
                <a:solidFill>
                  <a:srgbClr val="0F172A"/>
                </a:solidFill>
                <a:latin typeface="Calibri" panose="020F0502020204030204" pitchFamily="34" charset="0"/>
                <a:ea typeface="Calibri" panose="020F0502020204030204" pitchFamily="34" charset="-122"/>
                <a:cs typeface="Calibri" panose="020F0502020204030204" pitchFamily="34" charset="-120"/>
              </a:rPr>
              <a:t>Algorithm (Pseudocode)</a:t>
            </a:r>
            <a:endParaRPr lang="en-US" sz="1300" dirty="0"/>
          </a:p>
        </p:txBody>
      </p:sp>
      <p:sp>
        <p:nvSpPr>
          <p:cNvPr id="15" name="Text 13"/>
          <p:cNvSpPr txBox="1"/>
          <p:nvPr/>
        </p:nvSpPr>
        <p:spPr>
          <a:xfrm>
            <a:off x="4480560" y="1737360"/>
            <a:ext cx="4023360" cy="2788920"/>
          </a:xfrm>
          <a:prstGeom prst="rect">
            <a:avLst/>
          </a:prstGeom>
          <a:noFill/>
        </p:spPr>
        <p:txBody>
          <a:bodyPr wrap="square" lIns="0" tIns="0" rIns="0" bIns="0" rtlCol="0" anchor="t"/>
          <a:lstStyle/>
          <a:p>
            <a:pPr marL="0" indent="0">
              <a:spcAft>
                <a:spcPts val="400"/>
              </a:spcAft>
              <a:buNone/>
            </a:pPr>
            <a:r>
              <a:rPr lang="en-US" sz="1050" dirty="0">
                <a:solidFill>
                  <a:srgbClr val="1E293B"/>
                </a:solidFill>
                <a:latin typeface="Consolas" panose="020B0609020204030204" pitchFamily="34" charset="0"/>
                <a:ea typeface="Consolas" panose="020B0609020204030204" pitchFamily="34" charset="-122"/>
                <a:cs typeface="Consolas" panose="020B0609020204030204" pitchFamily="34" charset="-120"/>
              </a:rPr>
              <a:t>OptimalMerge(sizes):</a:t>
            </a:r>
            <a:endParaRPr lang="en-US" sz="1050" dirty="0"/>
          </a:p>
          <a:p>
            <a:pPr marL="0" indent="0">
              <a:spcAft>
                <a:spcPts val="400"/>
              </a:spcAft>
              <a:buNone/>
            </a:pPr>
            <a:r>
              <a:rPr lang="en-US" sz="1050" dirty="0">
                <a:solidFill>
                  <a:srgbClr val="1E293B"/>
                </a:solidFill>
                <a:latin typeface="Consolas" panose="020B0609020204030204" pitchFamily="34" charset="0"/>
                <a:ea typeface="Consolas" panose="020B0609020204030204" pitchFamily="34" charset="-122"/>
                <a:cs typeface="Consolas" panose="020B0609020204030204" pitchFamily="34" charset="-120"/>
              </a:rPr>
              <a:t>  H = MinHeap(sizes)</a:t>
            </a:r>
            <a:endParaRPr lang="en-US" sz="1050" dirty="0"/>
          </a:p>
          <a:p>
            <a:pPr marL="0" indent="0">
              <a:spcAft>
                <a:spcPts val="400"/>
              </a:spcAft>
              <a:buNone/>
            </a:pPr>
            <a:r>
              <a:rPr lang="en-US" sz="1050" dirty="0">
                <a:solidFill>
                  <a:srgbClr val="1E293B"/>
                </a:solidFill>
                <a:latin typeface="Consolas" panose="020B0609020204030204" pitchFamily="34" charset="0"/>
                <a:ea typeface="Consolas" panose="020B0609020204030204" pitchFamily="34" charset="-122"/>
                <a:cs typeface="Consolas" panose="020B0609020204030204" pitchFamily="34" charset="-120"/>
              </a:rPr>
              <a:t>  cost = 0</a:t>
            </a:r>
            <a:endParaRPr lang="en-US" sz="1050" dirty="0"/>
          </a:p>
          <a:p>
            <a:pPr marL="0" indent="0">
              <a:spcAft>
                <a:spcPts val="400"/>
              </a:spcAft>
              <a:buNone/>
            </a:pPr>
            <a:r>
              <a:rPr lang="en-US" sz="1050" dirty="0">
                <a:solidFill>
                  <a:srgbClr val="1E293B"/>
                </a:solidFill>
                <a:latin typeface="Consolas" panose="020B0609020204030204" pitchFamily="34" charset="0"/>
                <a:ea typeface="Consolas" panose="020B0609020204030204" pitchFamily="34" charset="-122"/>
                <a:cs typeface="Consolas" panose="020B0609020204030204" pitchFamily="34" charset="-120"/>
              </a:rPr>
              <a:t>  while H.size &gt; 1:</a:t>
            </a:r>
            <a:endParaRPr lang="en-US" sz="1050" dirty="0"/>
          </a:p>
          <a:p>
            <a:pPr marL="0" indent="0">
              <a:spcAft>
                <a:spcPts val="400"/>
              </a:spcAft>
              <a:buNone/>
            </a:pPr>
            <a:r>
              <a:rPr lang="en-US" sz="1050" dirty="0">
                <a:solidFill>
                  <a:srgbClr val="1E293B"/>
                </a:solidFill>
                <a:latin typeface="Consolas" panose="020B0609020204030204" pitchFamily="34" charset="0"/>
                <a:ea typeface="Consolas" panose="020B0609020204030204" pitchFamily="34" charset="-122"/>
                <a:cs typeface="Consolas" panose="020B0609020204030204" pitchFamily="34" charset="-120"/>
              </a:rPr>
              <a:t>    a = H.extractMin()</a:t>
            </a:r>
            <a:endParaRPr lang="en-US" sz="1050" dirty="0"/>
          </a:p>
          <a:p>
            <a:pPr marL="0" indent="0">
              <a:spcAft>
                <a:spcPts val="400"/>
              </a:spcAft>
              <a:buNone/>
            </a:pPr>
            <a:r>
              <a:rPr lang="en-US" sz="1050" dirty="0">
                <a:solidFill>
                  <a:srgbClr val="1E293B"/>
                </a:solidFill>
                <a:latin typeface="Consolas" panose="020B0609020204030204" pitchFamily="34" charset="0"/>
                <a:ea typeface="Consolas" panose="020B0609020204030204" pitchFamily="34" charset="-122"/>
                <a:cs typeface="Consolas" panose="020B0609020204030204" pitchFamily="34" charset="-120"/>
              </a:rPr>
              <a:t>    b = H.extractMin()</a:t>
            </a:r>
            <a:endParaRPr lang="en-US" sz="1050" dirty="0"/>
          </a:p>
          <a:p>
            <a:pPr marL="0" indent="0">
              <a:spcAft>
                <a:spcPts val="400"/>
              </a:spcAft>
              <a:buNone/>
            </a:pPr>
            <a:r>
              <a:rPr lang="en-US" sz="1050" dirty="0">
                <a:solidFill>
                  <a:srgbClr val="1E293B"/>
                </a:solidFill>
                <a:latin typeface="Consolas" panose="020B0609020204030204" pitchFamily="34" charset="0"/>
                <a:ea typeface="Consolas" panose="020B0609020204030204" pitchFamily="34" charset="-122"/>
                <a:cs typeface="Consolas" panose="020B0609020204030204" pitchFamily="34" charset="-120"/>
              </a:rPr>
              <a:t>    cost += a + b</a:t>
            </a:r>
            <a:endParaRPr lang="en-US" sz="1050" dirty="0"/>
          </a:p>
          <a:p>
            <a:pPr marL="0" indent="0">
              <a:spcAft>
                <a:spcPts val="400"/>
              </a:spcAft>
              <a:buNone/>
            </a:pPr>
            <a:r>
              <a:rPr lang="en-US" sz="1050" dirty="0">
                <a:solidFill>
                  <a:srgbClr val="1E293B"/>
                </a:solidFill>
                <a:latin typeface="Consolas" panose="020B0609020204030204" pitchFamily="34" charset="0"/>
                <a:ea typeface="Consolas" panose="020B0609020204030204" pitchFamily="34" charset="-122"/>
                <a:cs typeface="Consolas" panose="020B0609020204030204" pitchFamily="34" charset="-120"/>
              </a:rPr>
              <a:t>    H.insert(a + b)</a:t>
            </a:r>
            <a:endParaRPr lang="en-US" sz="1050" dirty="0"/>
          </a:p>
          <a:p>
            <a:pPr marL="0" indent="0">
              <a:spcAft>
                <a:spcPts val="400"/>
              </a:spcAft>
              <a:buNone/>
            </a:pPr>
            <a:r>
              <a:rPr lang="en-US" sz="1050" dirty="0">
                <a:solidFill>
                  <a:srgbClr val="1E293B"/>
                </a:solidFill>
                <a:latin typeface="Consolas" panose="020B0609020204030204" pitchFamily="34" charset="0"/>
                <a:ea typeface="Consolas" panose="020B0609020204030204" pitchFamily="34" charset="-122"/>
                <a:cs typeface="Consolas" panose="020B0609020204030204" pitchFamily="34" charset="-120"/>
              </a:rPr>
              <a:t>  return cost</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F172A"/>
          </a:solidFill>
        </p:spPr>
      </p:sp>
      <p:sp>
        <p:nvSpPr>
          <p:cNvPr id="3" name="Shape 1"/>
          <p:cNvSpPr/>
          <p:nvPr/>
        </p:nvSpPr>
        <p:spPr>
          <a:xfrm>
            <a:off x="0" y="914400"/>
            <a:ext cx="9144000" cy="54864"/>
          </a:xfrm>
          <a:prstGeom prst="rect">
            <a:avLst/>
          </a:prstGeom>
          <a:solidFill>
            <a:srgbClr val="14B8A6"/>
          </a:solidFill>
        </p:spPr>
      </p:sp>
      <p:sp>
        <p:nvSpPr>
          <p:cNvPr id="4" name="Text 2"/>
          <p:cNvSpPr txBox="1"/>
          <p:nvPr/>
        </p:nvSpPr>
        <p:spPr>
          <a:xfrm>
            <a:off x="457200" y="109728"/>
            <a:ext cx="8229600" cy="274320"/>
          </a:xfrm>
          <a:prstGeom prst="rect">
            <a:avLst/>
          </a:prstGeom>
          <a:noFill/>
        </p:spPr>
        <p:txBody>
          <a:bodyPr wrap="square" lIns="0" tIns="0" rIns="0" bIns="0" rtlCol="0" anchor="ctr"/>
          <a:lstStyle/>
          <a:p>
            <a:pPr marL="0" indent="0">
              <a:buNone/>
            </a:pPr>
            <a:r>
              <a:rPr lang="en-US" sz="1100" b="1" dirty="0">
                <a:solidFill>
                  <a:srgbClr val="14B8A6"/>
                </a:solidFill>
                <a:latin typeface="Calibri" panose="020F0502020204030204" pitchFamily="34" charset="0"/>
                <a:ea typeface="Calibri" panose="020F0502020204030204" pitchFamily="34" charset="-122"/>
                <a:cs typeface="Calibri" panose="020F0502020204030204" pitchFamily="34" charset="-120"/>
              </a:rPr>
              <a:t>Unit II – Divide and Conquer / Greedy  |  Project 6</a:t>
            </a:r>
            <a:endParaRPr lang="en-US" sz="1100" dirty="0"/>
          </a:p>
        </p:txBody>
      </p:sp>
      <p:sp>
        <p:nvSpPr>
          <p:cNvPr id="5" name="Text 3"/>
          <p:cNvSpPr txBox="1"/>
          <p:nvPr/>
        </p:nvSpPr>
        <p:spPr>
          <a:xfrm>
            <a:off x="457200" y="384048"/>
            <a:ext cx="8229600" cy="411480"/>
          </a:xfrm>
          <a:prstGeom prst="rect">
            <a:avLst/>
          </a:prstGeom>
          <a:noFill/>
        </p:spPr>
        <p:txBody>
          <a:bodyPr wrap="square" lIns="0" tIns="0" rIns="0" bIns="0" rtlCol="0" anchor="ctr"/>
          <a:lstStyle/>
          <a:p>
            <a:pPr marL="0" indent="0">
              <a:buNone/>
            </a:pPr>
            <a:r>
              <a:rPr lang="en-US" sz="2200" b="1" dirty="0">
                <a:solidFill>
                  <a:srgbClr val="FFFFFF"/>
                </a:solidFill>
                <a:latin typeface="Calibri" panose="020F0502020204030204" pitchFamily="34" charset="0"/>
                <a:ea typeface="Calibri" panose="020F0502020204030204" pitchFamily="34" charset="-122"/>
                <a:cs typeface="Calibri" panose="020F0502020204030204" pitchFamily="34" charset="-120"/>
              </a:rPr>
              <a:t>Optimal Merge Pattern Tree: Prompt and Visualization</a:t>
            </a:r>
            <a:endParaRPr lang="en-US" sz="2200" dirty="0"/>
          </a:p>
        </p:txBody>
      </p:sp>
      <p:sp>
        <p:nvSpPr>
          <p:cNvPr id="6" name="Text 4"/>
          <p:cNvSpPr txBox="1"/>
          <p:nvPr/>
        </p:nvSpPr>
        <p:spPr>
          <a:xfrm>
            <a:off x="457200" y="4800600"/>
            <a:ext cx="5486400" cy="228600"/>
          </a:xfrm>
          <a:prstGeom prst="rect">
            <a:avLst/>
          </a:prstGeom>
          <a:noFill/>
        </p:spPr>
        <p:txBody>
          <a:bodyPr wrap="square" lIns="0" tIns="0" rIns="0" bIns="0" rtlCol="0" anchor="ctr"/>
          <a:lstStyle/>
          <a:p>
            <a:pPr marL="0" indent="0">
              <a:buNone/>
            </a:pPr>
            <a:r>
              <a:rPr lang="en-US" sz="900" dirty="0">
                <a:solidFill>
                  <a:srgbClr val="64748B"/>
                </a:solidFill>
                <a:latin typeface="Calibri" panose="020F0502020204030204" pitchFamily="34" charset="0"/>
                <a:ea typeface="Calibri" panose="020F0502020204030204" pitchFamily="34" charset="-122"/>
                <a:cs typeface="Calibri" panose="020F0502020204030204" pitchFamily="34" charset="-120"/>
              </a:rPr>
              <a:t>Group 13  |  DAA Macro Project</a:t>
            </a:r>
            <a:endParaRPr lang="en-US" sz="900" dirty="0"/>
          </a:p>
        </p:txBody>
      </p:sp>
      <p:sp>
        <p:nvSpPr>
          <p:cNvPr id="7" name="Shape 5"/>
          <p:cNvSpPr/>
          <p:nvPr/>
        </p:nvSpPr>
        <p:spPr>
          <a:xfrm>
            <a:off x="457200" y="1234440"/>
            <a:ext cx="3108960" cy="1508760"/>
          </a:xfrm>
          <a:prstGeom prst="roundRect">
            <a:avLst>
              <a:gd name="adj" fmla="val 4848"/>
            </a:avLst>
          </a:prstGeom>
          <a:solidFill>
            <a:srgbClr val="FFFFFF"/>
          </a:solidFill>
          <a:ln w="9525">
            <a:solidFill>
              <a:srgbClr val="CBD5E1"/>
            </a:solidFill>
            <a:prstDash val="solid"/>
          </a:ln>
        </p:spPr>
      </p:sp>
      <p:sp>
        <p:nvSpPr>
          <p:cNvPr id="8" name="Shape 6"/>
          <p:cNvSpPr/>
          <p:nvPr/>
        </p:nvSpPr>
        <p:spPr>
          <a:xfrm>
            <a:off x="457200" y="1371600"/>
            <a:ext cx="54864" cy="274320"/>
          </a:xfrm>
          <a:prstGeom prst="rect">
            <a:avLst/>
          </a:prstGeom>
          <a:solidFill>
            <a:srgbClr val="14B8A6"/>
          </a:solidFill>
        </p:spPr>
      </p:sp>
      <p:sp>
        <p:nvSpPr>
          <p:cNvPr id="9" name="Text 7"/>
          <p:cNvSpPr txBox="1"/>
          <p:nvPr/>
        </p:nvSpPr>
        <p:spPr>
          <a:xfrm>
            <a:off x="640080" y="1344168"/>
            <a:ext cx="2743200" cy="320040"/>
          </a:xfrm>
          <a:prstGeom prst="rect">
            <a:avLst/>
          </a:prstGeom>
          <a:noFill/>
        </p:spPr>
        <p:txBody>
          <a:bodyPr wrap="square" lIns="0" tIns="0" rIns="0" bIns="0" rtlCol="0" anchor="ctr"/>
          <a:lstStyle/>
          <a:p>
            <a:pPr marL="0" indent="0">
              <a:buNone/>
            </a:pPr>
            <a:r>
              <a:rPr lang="en-US" sz="1300" b="1" dirty="0">
                <a:solidFill>
                  <a:srgbClr val="0F172A"/>
                </a:solidFill>
                <a:latin typeface="Calibri" panose="020F0502020204030204" pitchFamily="34" charset="0"/>
                <a:ea typeface="Calibri" panose="020F0502020204030204" pitchFamily="34" charset="-122"/>
                <a:cs typeface="Calibri" panose="020F0502020204030204" pitchFamily="34" charset="-120"/>
              </a:rPr>
              <a:t>Prompt Used</a:t>
            </a:r>
            <a:endParaRPr lang="en-US" sz="1300" dirty="0"/>
          </a:p>
        </p:txBody>
      </p:sp>
      <p:sp>
        <p:nvSpPr>
          <p:cNvPr id="10" name="Text 8"/>
          <p:cNvSpPr txBox="1"/>
          <p:nvPr/>
        </p:nvSpPr>
        <p:spPr>
          <a:xfrm>
            <a:off x="640080" y="1737360"/>
            <a:ext cx="2743200" cy="914400"/>
          </a:xfrm>
          <a:prstGeom prst="rect">
            <a:avLst/>
          </a:prstGeom>
          <a:noFill/>
        </p:spPr>
        <p:txBody>
          <a:bodyPr wrap="square" lIns="0" tIns="0" rIns="0" bIns="0" rtlCol="0" anchor="t"/>
          <a:lstStyle/>
          <a:p>
            <a:pPr marL="0" indent="0">
              <a:spcAft>
                <a:spcPts val="400"/>
              </a:spcAft>
              <a:buNone/>
            </a:pPr>
            <a:r>
              <a:rPr lang="en-US" sz="1200" dirty="0">
                <a:solidFill>
                  <a:srgbClr val="1E293B"/>
                </a:solidFill>
                <a:latin typeface="Calibri" panose="020F0502020204030204" pitchFamily="34" charset="0"/>
                <a:ea typeface="Calibri" panose="020F0502020204030204" pitchFamily="34" charset="-122"/>
                <a:cs typeface="Calibri" panose="020F0502020204030204" pitchFamily="34" charset="-120"/>
              </a:rPr>
              <a:t>"Draw a binary tree showing optimal merge pattern for files of sizes 10, 20, 30, 40."</a:t>
            </a:r>
            <a:endParaRPr lang="en-US" sz="1200" dirty="0"/>
          </a:p>
        </p:txBody>
      </p:sp>
      <p:sp>
        <p:nvSpPr>
          <p:cNvPr id="11" name="Shape 9"/>
          <p:cNvSpPr/>
          <p:nvPr/>
        </p:nvSpPr>
        <p:spPr>
          <a:xfrm>
            <a:off x="457200" y="2880360"/>
            <a:ext cx="3108960" cy="1737360"/>
          </a:xfrm>
          <a:prstGeom prst="roundRect">
            <a:avLst>
              <a:gd name="adj" fmla="val 4211"/>
            </a:avLst>
          </a:prstGeom>
          <a:solidFill>
            <a:srgbClr val="FFFFFF"/>
          </a:solidFill>
          <a:ln w="9525">
            <a:solidFill>
              <a:srgbClr val="CBD5E1"/>
            </a:solidFill>
            <a:prstDash val="solid"/>
          </a:ln>
        </p:spPr>
      </p:sp>
      <p:sp>
        <p:nvSpPr>
          <p:cNvPr id="12" name="Shape 10"/>
          <p:cNvSpPr/>
          <p:nvPr/>
        </p:nvSpPr>
        <p:spPr>
          <a:xfrm>
            <a:off x="457200" y="3017520"/>
            <a:ext cx="54864" cy="274320"/>
          </a:xfrm>
          <a:prstGeom prst="rect">
            <a:avLst/>
          </a:prstGeom>
          <a:solidFill>
            <a:srgbClr val="14B8A6"/>
          </a:solidFill>
        </p:spPr>
      </p:sp>
      <p:sp>
        <p:nvSpPr>
          <p:cNvPr id="13" name="Text 11"/>
          <p:cNvSpPr txBox="1"/>
          <p:nvPr/>
        </p:nvSpPr>
        <p:spPr>
          <a:xfrm>
            <a:off x="640080" y="2990088"/>
            <a:ext cx="2743200" cy="320040"/>
          </a:xfrm>
          <a:prstGeom prst="rect">
            <a:avLst/>
          </a:prstGeom>
          <a:noFill/>
        </p:spPr>
        <p:txBody>
          <a:bodyPr wrap="square" lIns="0" tIns="0" rIns="0" bIns="0" rtlCol="0" anchor="ctr"/>
          <a:lstStyle/>
          <a:p>
            <a:pPr marL="0" indent="0">
              <a:buNone/>
            </a:pPr>
            <a:r>
              <a:rPr lang="en-US" sz="1300" b="1" dirty="0">
                <a:solidFill>
                  <a:srgbClr val="0F172A"/>
                </a:solidFill>
                <a:latin typeface="Calibri" panose="020F0502020204030204" pitchFamily="34" charset="0"/>
                <a:ea typeface="Calibri" panose="020F0502020204030204" pitchFamily="34" charset="-122"/>
                <a:cs typeface="Calibri" panose="020F0502020204030204" pitchFamily="34" charset="-120"/>
              </a:rPr>
              <a:t>How It Works</a:t>
            </a:r>
            <a:endParaRPr lang="en-US" sz="1300" dirty="0"/>
          </a:p>
        </p:txBody>
      </p:sp>
      <p:sp>
        <p:nvSpPr>
          <p:cNvPr id="14" name="Text 12"/>
          <p:cNvSpPr txBox="1"/>
          <p:nvPr/>
        </p:nvSpPr>
        <p:spPr>
          <a:xfrm>
            <a:off x="640080" y="3383280"/>
            <a:ext cx="2743200" cy="1143000"/>
          </a:xfrm>
          <a:prstGeom prst="rect">
            <a:avLst/>
          </a:prstGeom>
          <a:noFill/>
        </p:spPr>
        <p:txBody>
          <a:bodyPr wrap="square" lIns="0" tIns="0" rIns="0" bIns="0" rtlCol="0" anchor="t"/>
          <a:lstStyle/>
          <a:p>
            <a:pPr marL="0" indent="0">
              <a:spcAft>
                <a:spcPts val="400"/>
              </a:spcAft>
              <a:buNone/>
            </a:pPr>
            <a:r>
              <a:rPr lang="en-US" sz="1050" dirty="0">
                <a:solidFill>
                  <a:srgbClr val="1E293B"/>
                </a:solidFill>
                <a:latin typeface="Calibri" panose="020F0502020204030204" pitchFamily="34" charset="0"/>
                <a:ea typeface="Calibri" panose="020F0502020204030204" pitchFamily="34" charset="-122"/>
                <a:cs typeface="Calibri" panose="020F0502020204030204" pitchFamily="34" charset="-120"/>
              </a:rPr>
              <a:t>Leaves are the original files and each internal node is a merge, labeled with its combined size. Smaller files sit deeper in the tree, so they are merged more often, which keeps the total cost minimal.</a:t>
            </a:r>
            <a:endParaRPr lang="en-US" sz="1050" dirty="0"/>
          </a:p>
        </p:txBody>
      </p:sp>
      <p:sp>
        <p:nvSpPr>
          <p:cNvPr id="15" name="Shape 13"/>
          <p:cNvSpPr/>
          <p:nvPr/>
        </p:nvSpPr>
        <p:spPr>
          <a:xfrm>
            <a:off x="3749040" y="1234440"/>
            <a:ext cx="4937760" cy="3383280"/>
          </a:xfrm>
          <a:prstGeom prst="roundRect">
            <a:avLst>
              <a:gd name="adj" fmla="val 2162"/>
            </a:avLst>
          </a:prstGeom>
          <a:solidFill>
            <a:srgbClr val="FFFFFF"/>
          </a:solidFill>
          <a:ln w="19050">
            <a:solidFill>
              <a:srgbClr val="14B8A6"/>
            </a:solidFill>
            <a:prstDash val="dash"/>
          </a:ln>
        </p:spPr>
      </p:sp>
      <p:pic>
        <p:nvPicPr>
          <p:cNvPr id="16"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3840480" y="1618488"/>
            <a:ext cx="4754880" cy="261518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indefinite"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F172A"/>
          </a:solidFill>
        </p:spPr>
      </p:sp>
      <p:sp>
        <p:nvSpPr>
          <p:cNvPr id="3" name="Shape 1"/>
          <p:cNvSpPr/>
          <p:nvPr/>
        </p:nvSpPr>
        <p:spPr>
          <a:xfrm>
            <a:off x="0" y="914400"/>
            <a:ext cx="9144000" cy="54864"/>
          </a:xfrm>
          <a:prstGeom prst="rect">
            <a:avLst/>
          </a:prstGeom>
          <a:solidFill>
            <a:srgbClr val="14B8A6"/>
          </a:solidFill>
        </p:spPr>
      </p:sp>
      <p:sp>
        <p:nvSpPr>
          <p:cNvPr id="4" name="Text 2"/>
          <p:cNvSpPr txBox="1"/>
          <p:nvPr/>
        </p:nvSpPr>
        <p:spPr>
          <a:xfrm>
            <a:off x="457200" y="109728"/>
            <a:ext cx="8229600" cy="274320"/>
          </a:xfrm>
          <a:prstGeom prst="rect">
            <a:avLst/>
          </a:prstGeom>
          <a:noFill/>
        </p:spPr>
        <p:txBody>
          <a:bodyPr wrap="square" lIns="0" tIns="0" rIns="0" bIns="0" rtlCol="0" anchor="ctr"/>
          <a:lstStyle/>
          <a:p>
            <a:pPr marL="0" indent="0">
              <a:buNone/>
            </a:pPr>
            <a:r>
              <a:rPr lang="en-US" sz="1100" b="1" dirty="0">
                <a:solidFill>
                  <a:srgbClr val="14B8A6"/>
                </a:solidFill>
                <a:latin typeface="Calibri" panose="020F0502020204030204" pitchFamily="34" charset="0"/>
                <a:ea typeface="Calibri" panose="020F0502020204030204" pitchFamily="34" charset="-122"/>
                <a:cs typeface="Calibri" panose="020F0502020204030204" pitchFamily="34" charset="-120"/>
              </a:rPr>
              <a:t>Unit III – Dynamic Programming  |  Project 9</a:t>
            </a:r>
            <a:endParaRPr lang="en-US" sz="1100" dirty="0"/>
          </a:p>
        </p:txBody>
      </p:sp>
      <p:sp>
        <p:nvSpPr>
          <p:cNvPr id="5" name="Text 3"/>
          <p:cNvSpPr txBox="1"/>
          <p:nvPr/>
        </p:nvSpPr>
        <p:spPr>
          <a:xfrm>
            <a:off x="457200" y="384048"/>
            <a:ext cx="8229600" cy="411480"/>
          </a:xfrm>
          <a:prstGeom prst="rect">
            <a:avLst/>
          </a:prstGeom>
          <a:noFill/>
        </p:spPr>
        <p:txBody>
          <a:bodyPr wrap="square" lIns="0" tIns="0" rIns="0" bIns="0" rtlCol="0" anchor="ctr"/>
          <a:lstStyle/>
          <a:p>
            <a:pPr marL="0" indent="0">
              <a:buNone/>
            </a:pPr>
            <a:r>
              <a:rPr lang="en-US" sz="2200" b="1" dirty="0">
                <a:solidFill>
                  <a:srgbClr val="FFFFFF"/>
                </a:solidFill>
                <a:latin typeface="Calibri" panose="020F0502020204030204" pitchFamily="34" charset="0"/>
                <a:ea typeface="Calibri" panose="020F0502020204030204" pitchFamily="34" charset="-122"/>
                <a:cs typeface="Calibri" panose="020F0502020204030204" pitchFamily="34" charset="-120"/>
              </a:rPr>
              <a:t>Knapsack DP Table</a:t>
            </a:r>
            <a:endParaRPr lang="en-US" sz="2200" dirty="0"/>
          </a:p>
        </p:txBody>
      </p:sp>
      <p:sp>
        <p:nvSpPr>
          <p:cNvPr id="6" name="Text 4"/>
          <p:cNvSpPr txBox="1"/>
          <p:nvPr/>
        </p:nvSpPr>
        <p:spPr>
          <a:xfrm>
            <a:off x="457200" y="4800600"/>
            <a:ext cx="5486400" cy="228600"/>
          </a:xfrm>
          <a:prstGeom prst="rect">
            <a:avLst/>
          </a:prstGeom>
          <a:noFill/>
        </p:spPr>
        <p:txBody>
          <a:bodyPr wrap="square" lIns="0" tIns="0" rIns="0" bIns="0" rtlCol="0" anchor="ctr"/>
          <a:lstStyle/>
          <a:p>
            <a:pPr marL="0" indent="0">
              <a:buNone/>
            </a:pPr>
            <a:r>
              <a:rPr lang="en-US" sz="900" dirty="0">
                <a:solidFill>
                  <a:srgbClr val="64748B"/>
                </a:solidFill>
                <a:latin typeface="Calibri" panose="020F0502020204030204" pitchFamily="34" charset="0"/>
                <a:ea typeface="Calibri" panose="020F0502020204030204" pitchFamily="34" charset="-122"/>
                <a:cs typeface="Calibri" panose="020F0502020204030204" pitchFamily="34" charset="-120"/>
              </a:rPr>
              <a:t>Group 13  |  DAA Macro Project</a:t>
            </a:r>
            <a:endParaRPr lang="en-US" sz="900" dirty="0"/>
          </a:p>
        </p:txBody>
      </p:sp>
      <p:sp>
        <p:nvSpPr>
          <p:cNvPr id="7" name="Shape 5"/>
          <p:cNvSpPr/>
          <p:nvPr/>
        </p:nvSpPr>
        <p:spPr>
          <a:xfrm>
            <a:off x="457200" y="1234440"/>
            <a:ext cx="3657600" cy="3383280"/>
          </a:xfrm>
          <a:prstGeom prst="roundRect">
            <a:avLst>
              <a:gd name="adj" fmla="val 2162"/>
            </a:avLst>
          </a:prstGeom>
          <a:solidFill>
            <a:srgbClr val="FFFFFF"/>
          </a:solidFill>
          <a:ln w="9525">
            <a:solidFill>
              <a:srgbClr val="CBD5E1"/>
            </a:solidFill>
            <a:prstDash val="solid"/>
          </a:ln>
        </p:spPr>
      </p:sp>
      <p:sp>
        <p:nvSpPr>
          <p:cNvPr id="8" name="Shape 6"/>
          <p:cNvSpPr/>
          <p:nvPr/>
        </p:nvSpPr>
        <p:spPr>
          <a:xfrm>
            <a:off x="457200" y="1371600"/>
            <a:ext cx="54864" cy="274320"/>
          </a:xfrm>
          <a:prstGeom prst="rect">
            <a:avLst/>
          </a:prstGeom>
          <a:solidFill>
            <a:srgbClr val="14B8A6"/>
          </a:solidFill>
        </p:spPr>
      </p:sp>
      <p:sp>
        <p:nvSpPr>
          <p:cNvPr id="9" name="Text 7"/>
          <p:cNvSpPr txBox="1"/>
          <p:nvPr/>
        </p:nvSpPr>
        <p:spPr>
          <a:xfrm>
            <a:off x="640080" y="1344168"/>
            <a:ext cx="3291840" cy="320040"/>
          </a:xfrm>
          <a:prstGeom prst="rect">
            <a:avLst/>
          </a:prstGeom>
          <a:noFill/>
        </p:spPr>
        <p:txBody>
          <a:bodyPr wrap="square" lIns="0" tIns="0" rIns="0" bIns="0" rtlCol="0" anchor="ctr"/>
          <a:lstStyle/>
          <a:p>
            <a:pPr marL="0" indent="0">
              <a:buNone/>
            </a:pPr>
            <a:r>
              <a:rPr lang="en-US" sz="1300" b="1" dirty="0">
                <a:solidFill>
                  <a:srgbClr val="0F172A"/>
                </a:solidFill>
                <a:latin typeface="Calibri" panose="020F0502020204030204" pitchFamily="34" charset="0"/>
                <a:ea typeface="Calibri" panose="020F0502020204030204" pitchFamily="34" charset="-122"/>
                <a:cs typeface="Calibri" panose="020F0502020204030204" pitchFamily="34" charset="-120"/>
              </a:rPr>
              <a:t>Problem and Key Ideas</a:t>
            </a:r>
            <a:endParaRPr lang="en-US" sz="1300" dirty="0"/>
          </a:p>
        </p:txBody>
      </p:sp>
      <p:sp>
        <p:nvSpPr>
          <p:cNvPr id="10" name="Text 8"/>
          <p:cNvSpPr txBox="1"/>
          <p:nvPr/>
        </p:nvSpPr>
        <p:spPr>
          <a:xfrm>
            <a:off x="640080" y="1737360"/>
            <a:ext cx="3291840" cy="2788920"/>
          </a:xfrm>
          <a:prstGeom prst="rect">
            <a:avLst/>
          </a:prstGeom>
          <a:noFill/>
        </p:spPr>
        <p:txBody>
          <a:bodyPr wrap="square" lIns="0" tIns="0" rIns="0" bIns="0" rtlCol="0" anchor="t"/>
          <a:lstStyle/>
          <a:p>
            <a:pPr marL="0" indent="0">
              <a:spcAft>
                <a:spcPts val="400"/>
              </a:spcAft>
              <a:buNone/>
            </a:pPr>
            <a:endParaRPr lang="en-US" sz="1200" dirty="0"/>
          </a:p>
        </p:txBody>
      </p:sp>
      <p:sp>
        <p:nvSpPr>
          <p:cNvPr id="11" name="Text 9"/>
          <p:cNvSpPr txBox="1"/>
          <p:nvPr/>
        </p:nvSpPr>
        <p:spPr>
          <a:xfrm>
            <a:off x="640080" y="1737360"/>
            <a:ext cx="3291840" cy="2788920"/>
          </a:xfrm>
          <a:prstGeom prst="rect">
            <a:avLst/>
          </a:prstGeom>
          <a:noFill/>
        </p:spPr>
        <p:txBody>
          <a:bodyPr wrap="square" lIns="0" tIns="0" rIns="0" bIns="0" rtlCol="0" anchor="t"/>
          <a:lstStyle/>
          <a:p>
            <a:pPr marL="0" indent="0">
              <a:spcAft>
                <a:spcPts val="500"/>
              </a:spcAft>
              <a:buNone/>
            </a:pPr>
            <a:r>
              <a:rPr lang="en-US" sz="1200" dirty="0">
                <a:solidFill>
                  <a:srgbClr val="1E293B"/>
                </a:solidFill>
                <a:latin typeface="Calibri" panose="020F0502020204030204" pitchFamily="34" charset="0"/>
                <a:ea typeface="Calibri" panose="020F0502020204030204" pitchFamily="34" charset="-122"/>
                <a:cs typeface="Calibri" panose="020F0502020204030204" pitchFamily="34" charset="-120"/>
              </a:rPr>
              <a:t>Choose items to maximize total value in a knapsack of capacity 10 with 4 items, where each item is taken whole or not at all (0/1).</a:t>
            </a:r>
            <a:endParaRPr lang="en-US" sz="1200" dirty="0"/>
          </a:p>
          <a:p>
            <a:pPr marL="0" indent="0">
              <a:spcAft>
                <a:spcPts val="500"/>
              </a:spcAft>
              <a:buNone/>
            </a:pPr>
            <a:r>
              <a:rPr lang="en-US" sz="600" dirty="0">
                <a:solidFill>
                  <a:srgbClr val="1E293B"/>
                </a:solidFill>
                <a:latin typeface="Calibri" panose="020F0502020204030204" pitchFamily="34" charset="0"/>
                <a:ea typeface="Calibri" panose="020F0502020204030204" pitchFamily="34" charset="-122"/>
                <a:cs typeface="Calibri" panose="020F0502020204030204" pitchFamily="34" charset="-120"/>
              </a:rPr>
              <a:t> </a:t>
            </a:r>
            <a:endParaRPr lang="en-US" sz="1200" dirty="0"/>
          </a:p>
          <a:p>
            <a:pPr marL="342900" indent="-342900">
              <a:spcAft>
                <a:spcPts val="500"/>
              </a:spcAft>
              <a:buSzPct val="100000"/>
              <a:buChar char="•"/>
            </a:pPr>
            <a:r>
              <a:rPr lang="en-US" sz="1200" dirty="0">
                <a:solidFill>
                  <a:srgbClr val="1E293B"/>
                </a:solidFill>
                <a:latin typeface="Calibri" panose="020F0502020204030204" pitchFamily="34" charset="0"/>
                <a:ea typeface="Calibri" panose="020F0502020204030204" pitchFamily="34" charset="-122"/>
                <a:cs typeface="Calibri" panose="020F0502020204030204" pitchFamily="34" charset="-120"/>
              </a:rPr>
              <a:t>State: V[i][w] = best value using first i items, capacity w</a:t>
            </a:r>
            <a:endParaRPr lang="en-US" sz="1200" dirty="0"/>
          </a:p>
          <a:p>
            <a:pPr marL="342900" indent="-342900">
              <a:spcAft>
                <a:spcPts val="500"/>
              </a:spcAft>
              <a:buSzPct val="100000"/>
              <a:buChar char="•"/>
            </a:pPr>
            <a:r>
              <a:rPr lang="en-US" sz="1200" dirty="0">
                <a:solidFill>
                  <a:srgbClr val="1E293B"/>
                </a:solidFill>
                <a:latin typeface="Calibri" panose="020F0502020204030204" pitchFamily="34" charset="0"/>
                <a:ea typeface="Calibri" panose="020F0502020204030204" pitchFamily="34" charset="-122"/>
                <a:cs typeface="Calibri" panose="020F0502020204030204" pitchFamily="34" charset="-120"/>
              </a:rPr>
              <a:t>Either skip item i or take it if it fits</a:t>
            </a:r>
            <a:endParaRPr lang="en-US" sz="1200" dirty="0"/>
          </a:p>
          <a:p>
            <a:pPr marL="342900" indent="-342900">
              <a:spcAft>
                <a:spcPts val="500"/>
              </a:spcAft>
              <a:buSzPct val="100000"/>
              <a:buChar char="•"/>
            </a:pPr>
            <a:r>
              <a:rPr lang="en-US" sz="1200" dirty="0">
                <a:solidFill>
                  <a:srgbClr val="1E293B"/>
                </a:solidFill>
                <a:latin typeface="Calibri" panose="020F0502020204030204" pitchFamily="34" charset="0"/>
                <a:ea typeface="Calibri" panose="020F0502020204030204" pitchFamily="34" charset="-122"/>
                <a:cs typeface="Calibri" panose="020F0502020204030204" pitchFamily="34" charset="-120"/>
              </a:rPr>
              <a:t>Answer is stored in V[n][W]</a:t>
            </a:r>
            <a:endParaRPr lang="en-US" sz="1200" dirty="0"/>
          </a:p>
        </p:txBody>
      </p:sp>
      <p:sp>
        <p:nvSpPr>
          <p:cNvPr id="12" name="Shape 10"/>
          <p:cNvSpPr/>
          <p:nvPr/>
        </p:nvSpPr>
        <p:spPr>
          <a:xfrm>
            <a:off x="4297680" y="1234440"/>
            <a:ext cx="4389120" cy="3383280"/>
          </a:xfrm>
          <a:prstGeom prst="roundRect">
            <a:avLst>
              <a:gd name="adj" fmla="val 2162"/>
            </a:avLst>
          </a:prstGeom>
          <a:solidFill>
            <a:srgbClr val="FFFFFF"/>
          </a:solidFill>
          <a:ln w="9525">
            <a:solidFill>
              <a:srgbClr val="CBD5E1"/>
            </a:solidFill>
            <a:prstDash val="solid"/>
          </a:ln>
        </p:spPr>
      </p:sp>
      <p:sp>
        <p:nvSpPr>
          <p:cNvPr id="13" name="Shape 11"/>
          <p:cNvSpPr/>
          <p:nvPr/>
        </p:nvSpPr>
        <p:spPr>
          <a:xfrm>
            <a:off x="4297680" y="1371600"/>
            <a:ext cx="54864" cy="274320"/>
          </a:xfrm>
          <a:prstGeom prst="rect">
            <a:avLst/>
          </a:prstGeom>
          <a:solidFill>
            <a:srgbClr val="14B8A6"/>
          </a:solidFill>
        </p:spPr>
      </p:sp>
      <p:sp>
        <p:nvSpPr>
          <p:cNvPr id="14" name="Text 12"/>
          <p:cNvSpPr txBox="1"/>
          <p:nvPr/>
        </p:nvSpPr>
        <p:spPr>
          <a:xfrm>
            <a:off x="4480560" y="1344168"/>
            <a:ext cx="4023360" cy="320040"/>
          </a:xfrm>
          <a:prstGeom prst="rect">
            <a:avLst/>
          </a:prstGeom>
          <a:noFill/>
        </p:spPr>
        <p:txBody>
          <a:bodyPr wrap="square" lIns="0" tIns="0" rIns="0" bIns="0" rtlCol="0" anchor="ctr"/>
          <a:lstStyle/>
          <a:p>
            <a:pPr marL="0" indent="0">
              <a:buNone/>
            </a:pPr>
            <a:r>
              <a:rPr lang="en-US" sz="1300" b="1" dirty="0">
                <a:solidFill>
                  <a:srgbClr val="0F172A"/>
                </a:solidFill>
                <a:latin typeface="Calibri" panose="020F0502020204030204" pitchFamily="34" charset="0"/>
                <a:ea typeface="Calibri" panose="020F0502020204030204" pitchFamily="34" charset="-122"/>
                <a:cs typeface="Calibri" panose="020F0502020204030204" pitchFamily="34" charset="-120"/>
              </a:rPr>
              <a:t>Algorithm (Pseudocode)</a:t>
            </a:r>
            <a:endParaRPr lang="en-US" sz="1300" dirty="0"/>
          </a:p>
        </p:txBody>
      </p:sp>
      <p:sp>
        <p:nvSpPr>
          <p:cNvPr id="15" name="Text 13"/>
          <p:cNvSpPr txBox="1"/>
          <p:nvPr/>
        </p:nvSpPr>
        <p:spPr>
          <a:xfrm>
            <a:off x="4480560" y="1737360"/>
            <a:ext cx="4023360" cy="2788920"/>
          </a:xfrm>
          <a:prstGeom prst="rect">
            <a:avLst/>
          </a:prstGeom>
          <a:noFill/>
        </p:spPr>
        <p:txBody>
          <a:bodyPr wrap="square" lIns="0" tIns="0" rIns="0" bIns="0" rtlCol="0" anchor="t"/>
          <a:lstStyle/>
          <a:p>
            <a:pPr marL="0" indent="0">
              <a:spcAft>
                <a:spcPts val="400"/>
              </a:spcAft>
              <a:buNone/>
            </a:pPr>
            <a:r>
              <a:rPr lang="en-US" sz="1050" dirty="0">
                <a:solidFill>
                  <a:srgbClr val="1E293B"/>
                </a:solidFill>
                <a:latin typeface="Consolas" panose="020B0609020204030204" pitchFamily="34" charset="0"/>
                <a:ea typeface="Consolas" panose="020B0609020204030204" pitchFamily="34" charset="-122"/>
                <a:cs typeface="Consolas" panose="020B0609020204030204" pitchFamily="34" charset="-120"/>
              </a:rPr>
              <a:t>Knapsack(wt[], val[], n, W):</a:t>
            </a:r>
            <a:endParaRPr lang="en-US" sz="1050" dirty="0"/>
          </a:p>
          <a:p>
            <a:pPr marL="0" indent="0">
              <a:spcAft>
                <a:spcPts val="400"/>
              </a:spcAft>
              <a:buNone/>
            </a:pPr>
            <a:r>
              <a:rPr lang="en-US" sz="1050" dirty="0">
                <a:solidFill>
                  <a:srgbClr val="1E293B"/>
                </a:solidFill>
                <a:latin typeface="Consolas" panose="020B0609020204030204" pitchFamily="34" charset="0"/>
                <a:ea typeface="Consolas" panose="020B0609020204030204" pitchFamily="34" charset="-122"/>
                <a:cs typeface="Consolas" panose="020B0609020204030204" pitchFamily="34" charset="-120"/>
              </a:rPr>
              <a:t>  for i = 0..n:</a:t>
            </a:r>
            <a:endParaRPr lang="en-US" sz="1050" dirty="0"/>
          </a:p>
          <a:p>
            <a:pPr marL="0" indent="0">
              <a:spcAft>
                <a:spcPts val="400"/>
              </a:spcAft>
              <a:buNone/>
            </a:pPr>
            <a:r>
              <a:rPr lang="en-US" sz="1050" dirty="0">
                <a:solidFill>
                  <a:srgbClr val="1E293B"/>
                </a:solidFill>
                <a:latin typeface="Consolas" panose="020B0609020204030204" pitchFamily="34" charset="0"/>
                <a:ea typeface="Consolas" panose="020B0609020204030204" pitchFamily="34" charset="-122"/>
                <a:cs typeface="Consolas" panose="020B0609020204030204" pitchFamily="34" charset="-120"/>
              </a:rPr>
              <a:t>    for w = 0..W:</a:t>
            </a:r>
            <a:endParaRPr lang="en-US" sz="1050" dirty="0"/>
          </a:p>
          <a:p>
            <a:pPr marL="0" indent="0">
              <a:spcAft>
                <a:spcPts val="400"/>
              </a:spcAft>
              <a:buNone/>
            </a:pPr>
            <a:r>
              <a:rPr lang="en-US" sz="1050" dirty="0">
                <a:solidFill>
                  <a:srgbClr val="1E293B"/>
                </a:solidFill>
                <a:latin typeface="Consolas" panose="020B0609020204030204" pitchFamily="34" charset="0"/>
                <a:ea typeface="Consolas" panose="020B0609020204030204" pitchFamily="34" charset="-122"/>
                <a:cs typeface="Consolas" panose="020B0609020204030204" pitchFamily="34" charset="-120"/>
              </a:rPr>
              <a:t>      if i == 0 or w == 0:</a:t>
            </a:r>
            <a:endParaRPr lang="en-US" sz="1050" dirty="0"/>
          </a:p>
          <a:p>
            <a:pPr marL="0" indent="0">
              <a:spcAft>
                <a:spcPts val="400"/>
              </a:spcAft>
              <a:buNone/>
            </a:pPr>
            <a:r>
              <a:rPr lang="en-US" sz="1050" dirty="0">
                <a:solidFill>
                  <a:srgbClr val="1E293B"/>
                </a:solidFill>
                <a:latin typeface="Consolas" panose="020B0609020204030204" pitchFamily="34" charset="0"/>
                <a:ea typeface="Consolas" panose="020B0609020204030204" pitchFamily="34" charset="-122"/>
                <a:cs typeface="Consolas" panose="020B0609020204030204" pitchFamily="34" charset="-120"/>
              </a:rPr>
              <a:t>        V[i][w] = 0</a:t>
            </a:r>
            <a:endParaRPr lang="en-US" sz="1050" dirty="0"/>
          </a:p>
          <a:p>
            <a:pPr marL="0" indent="0">
              <a:spcAft>
                <a:spcPts val="400"/>
              </a:spcAft>
              <a:buNone/>
            </a:pPr>
            <a:r>
              <a:rPr lang="en-US" sz="1050" dirty="0">
                <a:solidFill>
                  <a:srgbClr val="1E293B"/>
                </a:solidFill>
                <a:latin typeface="Consolas" panose="020B0609020204030204" pitchFamily="34" charset="0"/>
                <a:ea typeface="Consolas" panose="020B0609020204030204" pitchFamily="34" charset="-122"/>
                <a:cs typeface="Consolas" panose="020B0609020204030204" pitchFamily="34" charset="-120"/>
              </a:rPr>
              <a:t>      else if wt[i] &lt;= w:</a:t>
            </a:r>
            <a:endParaRPr lang="en-US" sz="1050" dirty="0"/>
          </a:p>
          <a:p>
            <a:pPr marL="0" indent="0">
              <a:spcAft>
                <a:spcPts val="400"/>
              </a:spcAft>
              <a:buNone/>
            </a:pPr>
            <a:r>
              <a:rPr lang="en-US" sz="1050" dirty="0">
                <a:solidFill>
                  <a:srgbClr val="1E293B"/>
                </a:solidFill>
                <a:latin typeface="Consolas" panose="020B0609020204030204" pitchFamily="34" charset="0"/>
                <a:ea typeface="Consolas" panose="020B0609020204030204" pitchFamily="34" charset="-122"/>
                <a:cs typeface="Consolas" panose="020B0609020204030204" pitchFamily="34" charset="-120"/>
              </a:rPr>
              <a:t>        V[i][w] = max(V[i-1][w],</a:t>
            </a:r>
            <a:endParaRPr lang="en-US" sz="1050" dirty="0"/>
          </a:p>
          <a:p>
            <a:pPr marL="0" indent="0">
              <a:spcAft>
                <a:spcPts val="400"/>
              </a:spcAft>
              <a:buNone/>
            </a:pPr>
            <a:r>
              <a:rPr lang="en-US" sz="1050" dirty="0">
                <a:solidFill>
                  <a:srgbClr val="1E293B"/>
                </a:solidFill>
                <a:latin typeface="Consolas" panose="020B0609020204030204" pitchFamily="34" charset="0"/>
                <a:ea typeface="Consolas" panose="020B0609020204030204" pitchFamily="34" charset="-122"/>
                <a:cs typeface="Consolas" panose="020B0609020204030204" pitchFamily="34" charset="-120"/>
              </a:rPr>
              <a:t>          val[i] + V[i-1][w-wt[i]])</a:t>
            </a:r>
            <a:endParaRPr lang="en-US" sz="1050" dirty="0"/>
          </a:p>
          <a:p>
            <a:pPr marL="0" indent="0">
              <a:spcAft>
                <a:spcPts val="400"/>
              </a:spcAft>
              <a:buNone/>
            </a:pPr>
            <a:r>
              <a:rPr lang="en-US" sz="1050" dirty="0">
                <a:solidFill>
                  <a:srgbClr val="1E293B"/>
                </a:solidFill>
                <a:latin typeface="Consolas" panose="020B0609020204030204" pitchFamily="34" charset="0"/>
                <a:ea typeface="Consolas" panose="020B0609020204030204" pitchFamily="34" charset="-122"/>
                <a:cs typeface="Consolas" panose="020B0609020204030204" pitchFamily="34" charset="-120"/>
              </a:rPr>
              <a:t>      else:</a:t>
            </a:r>
            <a:endParaRPr lang="en-US" sz="1050" dirty="0"/>
          </a:p>
          <a:p>
            <a:pPr marL="0" indent="0">
              <a:spcAft>
                <a:spcPts val="400"/>
              </a:spcAft>
              <a:buNone/>
            </a:pPr>
            <a:r>
              <a:rPr lang="en-US" sz="1050" dirty="0">
                <a:solidFill>
                  <a:srgbClr val="1E293B"/>
                </a:solidFill>
                <a:latin typeface="Consolas" panose="020B0609020204030204" pitchFamily="34" charset="0"/>
                <a:ea typeface="Consolas" panose="020B0609020204030204" pitchFamily="34" charset="-122"/>
                <a:cs typeface="Consolas" panose="020B0609020204030204" pitchFamily="34" charset="-120"/>
              </a:rPr>
              <a:t>        V[i][w] = V[i-1][w]</a:t>
            </a:r>
            <a:endParaRPr lang="en-US" sz="1050" dirty="0"/>
          </a:p>
          <a:p>
            <a:pPr marL="0" indent="0">
              <a:spcAft>
                <a:spcPts val="400"/>
              </a:spcAft>
              <a:buNone/>
            </a:pPr>
            <a:r>
              <a:rPr lang="en-US" sz="1050" dirty="0">
                <a:solidFill>
                  <a:srgbClr val="1E293B"/>
                </a:solidFill>
                <a:latin typeface="Consolas" panose="020B0609020204030204" pitchFamily="34" charset="0"/>
                <a:ea typeface="Consolas" panose="020B0609020204030204" pitchFamily="34" charset="-122"/>
                <a:cs typeface="Consolas" panose="020B0609020204030204" pitchFamily="34" charset="-120"/>
              </a:rPr>
              <a:t>  return V[n][W]</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F172A"/>
          </a:solidFill>
        </p:spPr>
      </p:sp>
      <p:sp>
        <p:nvSpPr>
          <p:cNvPr id="3" name="Shape 1"/>
          <p:cNvSpPr/>
          <p:nvPr/>
        </p:nvSpPr>
        <p:spPr>
          <a:xfrm>
            <a:off x="0" y="914400"/>
            <a:ext cx="9144000" cy="54864"/>
          </a:xfrm>
          <a:prstGeom prst="rect">
            <a:avLst/>
          </a:prstGeom>
          <a:solidFill>
            <a:srgbClr val="14B8A6"/>
          </a:solidFill>
        </p:spPr>
      </p:sp>
      <p:sp>
        <p:nvSpPr>
          <p:cNvPr id="4" name="Text 2"/>
          <p:cNvSpPr txBox="1"/>
          <p:nvPr/>
        </p:nvSpPr>
        <p:spPr>
          <a:xfrm>
            <a:off x="457200" y="109728"/>
            <a:ext cx="8229600" cy="274320"/>
          </a:xfrm>
          <a:prstGeom prst="rect">
            <a:avLst/>
          </a:prstGeom>
          <a:noFill/>
        </p:spPr>
        <p:txBody>
          <a:bodyPr wrap="square" lIns="0" tIns="0" rIns="0" bIns="0" rtlCol="0" anchor="ctr"/>
          <a:lstStyle/>
          <a:p>
            <a:pPr marL="0" indent="0">
              <a:buNone/>
            </a:pPr>
            <a:r>
              <a:rPr lang="en-US" sz="1100" b="1" dirty="0">
                <a:solidFill>
                  <a:srgbClr val="14B8A6"/>
                </a:solidFill>
                <a:latin typeface="Calibri" panose="020F0502020204030204" pitchFamily="34" charset="0"/>
                <a:ea typeface="Calibri" panose="020F0502020204030204" pitchFamily="34" charset="-122"/>
                <a:cs typeface="Calibri" panose="020F0502020204030204" pitchFamily="34" charset="-120"/>
              </a:rPr>
              <a:t>Unit III – Dynamic Programming  |  Project 9</a:t>
            </a:r>
            <a:endParaRPr lang="en-US" sz="1100" dirty="0"/>
          </a:p>
        </p:txBody>
      </p:sp>
      <p:sp>
        <p:nvSpPr>
          <p:cNvPr id="5" name="Text 3"/>
          <p:cNvSpPr txBox="1"/>
          <p:nvPr/>
        </p:nvSpPr>
        <p:spPr>
          <a:xfrm>
            <a:off x="457200" y="384048"/>
            <a:ext cx="8229600" cy="411480"/>
          </a:xfrm>
          <a:prstGeom prst="rect">
            <a:avLst/>
          </a:prstGeom>
          <a:noFill/>
        </p:spPr>
        <p:txBody>
          <a:bodyPr wrap="square" lIns="0" tIns="0" rIns="0" bIns="0" rtlCol="0" anchor="ctr"/>
          <a:lstStyle/>
          <a:p>
            <a:pPr marL="0" indent="0">
              <a:buNone/>
            </a:pPr>
            <a:r>
              <a:rPr lang="en-US" sz="2200" b="1" dirty="0">
                <a:solidFill>
                  <a:srgbClr val="FFFFFF"/>
                </a:solidFill>
                <a:latin typeface="Calibri" panose="020F0502020204030204" pitchFamily="34" charset="0"/>
                <a:ea typeface="Calibri" panose="020F0502020204030204" pitchFamily="34" charset="-122"/>
                <a:cs typeface="Calibri" panose="020F0502020204030204" pitchFamily="34" charset="-120"/>
              </a:rPr>
              <a:t>Knapsack DP Table: Prompt and Visualization</a:t>
            </a:r>
            <a:endParaRPr lang="en-US" sz="2200" dirty="0"/>
          </a:p>
        </p:txBody>
      </p:sp>
      <p:sp>
        <p:nvSpPr>
          <p:cNvPr id="6" name="Text 4"/>
          <p:cNvSpPr txBox="1"/>
          <p:nvPr/>
        </p:nvSpPr>
        <p:spPr>
          <a:xfrm>
            <a:off x="457200" y="4800600"/>
            <a:ext cx="5486400" cy="228600"/>
          </a:xfrm>
          <a:prstGeom prst="rect">
            <a:avLst/>
          </a:prstGeom>
          <a:noFill/>
        </p:spPr>
        <p:txBody>
          <a:bodyPr wrap="square" lIns="0" tIns="0" rIns="0" bIns="0" rtlCol="0" anchor="ctr"/>
          <a:lstStyle/>
          <a:p>
            <a:pPr marL="0" indent="0">
              <a:buNone/>
            </a:pPr>
            <a:r>
              <a:rPr lang="en-US" sz="900" dirty="0">
                <a:solidFill>
                  <a:srgbClr val="64748B"/>
                </a:solidFill>
                <a:latin typeface="Calibri" panose="020F0502020204030204" pitchFamily="34" charset="0"/>
                <a:ea typeface="Calibri" panose="020F0502020204030204" pitchFamily="34" charset="-122"/>
                <a:cs typeface="Calibri" panose="020F0502020204030204" pitchFamily="34" charset="-120"/>
              </a:rPr>
              <a:t>Group 13  |  DAA Macro Project</a:t>
            </a:r>
            <a:endParaRPr lang="en-US" sz="900" dirty="0"/>
          </a:p>
        </p:txBody>
      </p:sp>
      <p:sp>
        <p:nvSpPr>
          <p:cNvPr id="7" name="Shape 5"/>
          <p:cNvSpPr/>
          <p:nvPr/>
        </p:nvSpPr>
        <p:spPr>
          <a:xfrm>
            <a:off x="457200" y="1234440"/>
            <a:ext cx="3108960" cy="1508760"/>
          </a:xfrm>
          <a:prstGeom prst="roundRect">
            <a:avLst>
              <a:gd name="adj" fmla="val 4848"/>
            </a:avLst>
          </a:prstGeom>
          <a:solidFill>
            <a:srgbClr val="FFFFFF"/>
          </a:solidFill>
          <a:ln w="9525">
            <a:solidFill>
              <a:srgbClr val="CBD5E1"/>
            </a:solidFill>
            <a:prstDash val="solid"/>
          </a:ln>
        </p:spPr>
      </p:sp>
      <p:sp>
        <p:nvSpPr>
          <p:cNvPr id="8" name="Shape 6"/>
          <p:cNvSpPr/>
          <p:nvPr/>
        </p:nvSpPr>
        <p:spPr>
          <a:xfrm>
            <a:off x="457200" y="1371600"/>
            <a:ext cx="54864" cy="274320"/>
          </a:xfrm>
          <a:prstGeom prst="rect">
            <a:avLst/>
          </a:prstGeom>
          <a:solidFill>
            <a:srgbClr val="14B8A6"/>
          </a:solidFill>
        </p:spPr>
      </p:sp>
      <p:sp>
        <p:nvSpPr>
          <p:cNvPr id="9" name="Text 7"/>
          <p:cNvSpPr txBox="1"/>
          <p:nvPr/>
        </p:nvSpPr>
        <p:spPr>
          <a:xfrm>
            <a:off x="640080" y="1344168"/>
            <a:ext cx="2743200" cy="320040"/>
          </a:xfrm>
          <a:prstGeom prst="rect">
            <a:avLst/>
          </a:prstGeom>
          <a:noFill/>
        </p:spPr>
        <p:txBody>
          <a:bodyPr wrap="square" lIns="0" tIns="0" rIns="0" bIns="0" rtlCol="0" anchor="ctr"/>
          <a:lstStyle/>
          <a:p>
            <a:pPr marL="0" indent="0">
              <a:buNone/>
            </a:pPr>
            <a:r>
              <a:rPr lang="en-US" sz="1300" b="1" dirty="0">
                <a:solidFill>
                  <a:srgbClr val="0F172A"/>
                </a:solidFill>
                <a:latin typeface="Calibri" panose="020F0502020204030204" pitchFamily="34" charset="0"/>
                <a:ea typeface="Calibri" panose="020F0502020204030204" pitchFamily="34" charset="-122"/>
                <a:cs typeface="Calibri" panose="020F0502020204030204" pitchFamily="34" charset="-120"/>
              </a:rPr>
              <a:t>Prompt Used</a:t>
            </a:r>
            <a:endParaRPr lang="en-US" sz="1300" dirty="0"/>
          </a:p>
        </p:txBody>
      </p:sp>
      <p:sp>
        <p:nvSpPr>
          <p:cNvPr id="10" name="Text 8"/>
          <p:cNvSpPr txBox="1"/>
          <p:nvPr/>
        </p:nvSpPr>
        <p:spPr>
          <a:xfrm>
            <a:off x="640080" y="1737360"/>
            <a:ext cx="2743200" cy="914400"/>
          </a:xfrm>
          <a:prstGeom prst="rect">
            <a:avLst/>
          </a:prstGeom>
          <a:noFill/>
        </p:spPr>
        <p:txBody>
          <a:bodyPr wrap="square" lIns="0" tIns="0" rIns="0" bIns="0" rtlCol="0" anchor="t"/>
          <a:lstStyle/>
          <a:p>
            <a:pPr marL="0" indent="0">
              <a:spcAft>
                <a:spcPts val="400"/>
              </a:spcAft>
              <a:buNone/>
            </a:pPr>
            <a:r>
              <a:rPr lang="en-US" sz="1200" dirty="0">
                <a:solidFill>
                  <a:srgbClr val="1E293B"/>
                </a:solidFill>
                <a:latin typeface="Calibri" panose="020F0502020204030204" pitchFamily="34" charset="0"/>
                <a:ea typeface="Calibri" panose="020F0502020204030204" pitchFamily="34" charset="-122"/>
                <a:cs typeface="Calibri" panose="020F0502020204030204" pitchFamily="34" charset="-120"/>
              </a:rPr>
              <a:t>"Draw a DP table for 0/1 Knapsack with 4 items and capacity 10."</a:t>
            </a:r>
            <a:endParaRPr lang="en-US" sz="1200" dirty="0"/>
          </a:p>
        </p:txBody>
      </p:sp>
      <p:sp>
        <p:nvSpPr>
          <p:cNvPr id="11" name="Shape 9"/>
          <p:cNvSpPr/>
          <p:nvPr/>
        </p:nvSpPr>
        <p:spPr>
          <a:xfrm>
            <a:off x="457200" y="2880360"/>
            <a:ext cx="3108960" cy="1737360"/>
          </a:xfrm>
          <a:prstGeom prst="roundRect">
            <a:avLst>
              <a:gd name="adj" fmla="val 4211"/>
            </a:avLst>
          </a:prstGeom>
          <a:solidFill>
            <a:srgbClr val="FFFFFF"/>
          </a:solidFill>
          <a:ln w="9525">
            <a:solidFill>
              <a:srgbClr val="CBD5E1"/>
            </a:solidFill>
            <a:prstDash val="solid"/>
          </a:ln>
        </p:spPr>
      </p:sp>
      <p:sp>
        <p:nvSpPr>
          <p:cNvPr id="12" name="Shape 10"/>
          <p:cNvSpPr/>
          <p:nvPr/>
        </p:nvSpPr>
        <p:spPr>
          <a:xfrm>
            <a:off x="457200" y="3017520"/>
            <a:ext cx="54864" cy="274320"/>
          </a:xfrm>
          <a:prstGeom prst="rect">
            <a:avLst/>
          </a:prstGeom>
          <a:solidFill>
            <a:srgbClr val="14B8A6"/>
          </a:solidFill>
        </p:spPr>
      </p:sp>
      <p:sp>
        <p:nvSpPr>
          <p:cNvPr id="13" name="Text 11"/>
          <p:cNvSpPr txBox="1"/>
          <p:nvPr/>
        </p:nvSpPr>
        <p:spPr>
          <a:xfrm>
            <a:off x="640080" y="2990088"/>
            <a:ext cx="2743200" cy="320040"/>
          </a:xfrm>
          <a:prstGeom prst="rect">
            <a:avLst/>
          </a:prstGeom>
          <a:noFill/>
        </p:spPr>
        <p:txBody>
          <a:bodyPr wrap="square" lIns="0" tIns="0" rIns="0" bIns="0" rtlCol="0" anchor="ctr"/>
          <a:lstStyle/>
          <a:p>
            <a:pPr marL="0" indent="0">
              <a:buNone/>
            </a:pPr>
            <a:r>
              <a:rPr lang="en-US" sz="1300" b="1" dirty="0">
                <a:solidFill>
                  <a:srgbClr val="0F172A"/>
                </a:solidFill>
                <a:latin typeface="Calibri" panose="020F0502020204030204" pitchFamily="34" charset="0"/>
                <a:ea typeface="Calibri" panose="020F0502020204030204" pitchFamily="34" charset="-122"/>
                <a:cs typeface="Calibri" panose="020F0502020204030204" pitchFamily="34" charset="-120"/>
              </a:rPr>
              <a:t>How It Works</a:t>
            </a:r>
            <a:endParaRPr lang="en-US" sz="1300" dirty="0"/>
          </a:p>
        </p:txBody>
      </p:sp>
      <p:sp>
        <p:nvSpPr>
          <p:cNvPr id="14" name="Text 12"/>
          <p:cNvSpPr txBox="1"/>
          <p:nvPr/>
        </p:nvSpPr>
        <p:spPr>
          <a:xfrm>
            <a:off x="640080" y="3383280"/>
            <a:ext cx="2743200" cy="1143000"/>
          </a:xfrm>
          <a:prstGeom prst="rect">
            <a:avLst/>
          </a:prstGeom>
          <a:noFill/>
        </p:spPr>
        <p:txBody>
          <a:bodyPr wrap="square" lIns="0" tIns="0" rIns="0" bIns="0" rtlCol="0" anchor="t"/>
          <a:lstStyle/>
          <a:p>
            <a:pPr marL="0" indent="0">
              <a:spcAft>
                <a:spcPts val="400"/>
              </a:spcAft>
              <a:buNone/>
            </a:pPr>
            <a:r>
              <a:rPr lang="en-US" sz="1050" dirty="0">
                <a:solidFill>
                  <a:srgbClr val="1E293B"/>
                </a:solidFill>
                <a:latin typeface="Calibri" panose="020F0502020204030204" pitchFamily="34" charset="0"/>
                <a:ea typeface="Calibri" panose="020F0502020204030204" pitchFamily="34" charset="-122"/>
                <a:cs typeface="Calibri" panose="020F0502020204030204" pitchFamily="34" charset="-120"/>
              </a:rPr>
              <a:t>Rows are items and columns are capacities 0 to 10. Each cell shows the best value so far, and tracing back from the bottom-right cell reveals which items were included.</a:t>
            </a:r>
            <a:endParaRPr lang="en-US" sz="1050" dirty="0"/>
          </a:p>
        </p:txBody>
      </p:sp>
      <p:sp>
        <p:nvSpPr>
          <p:cNvPr id="15" name="Shape 13"/>
          <p:cNvSpPr/>
          <p:nvPr/>
        </p:nvSpPr>
        <p:spPr>
          <a:xfrm>
            <a:off x="3749040" y="1234440"/>
            <a:ext cx="4937760" cy="3383280"/>
          </a:xfrm>
          <a:prstGeom prst="roundRect">
            <a:avLst>
              <a:gd name="adj" fmla="val 2162"/>
            </a:avLst>
          </a:prstGeom>
          <a:solidFill>
            <a:srgbClr val="FFFFFF"/>
          </a:solidFill>
          <a:ln w="19050">
            <a:solidFill>
              <a:srgbClr val="14B8A6"/>
            </a:solidFill>
            <a:prstDash val="dash"/>
          </a:ln>
        </p:spPr>
      </p:sp>
      <p:pic>
        <p:nvPicPr>
          <p:cNvPr id="16" name="Image 0" descr="/home/claude/v3.png"/>
          <p:cNvPicPr>
            <a:picLocks noChangeAspect="1"/>
          </p:cNvPicPr>
          <p:nvPr/>
        </p:nvPicPr>
        <p:blipFill>
          <a:blip r:embed="rId1"/>
          <a:stretch>
            <a:fillRect/>
          </a:stretch>
        </p:blipFill>
        <p:spPr>
          <a:xfrm>
            <a:off x="3840480" y="1363658"/>
            <a:ext cx="4754880" cy="312484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F172A"/>
          </a:solidFill>
        </p:spPr>
      </p:sp>
      <p:sp>
        <p:nvSpPr>
          <p:cNvPr id="3" name="Shape 1"/>
          <p:cNvSpPr/>
          <p:nvPr/>
        </p:nvSpPr>
        <p:spPr>
          <a:xfrm>
            <a:off x="0" y="914400"/>
            <a:ext cx="9144000" cy="54864"/>
          </a:xfrm>
          <a:prstGeom prst="rect">
            <a:avLst/>
          </a:prstGeom>
          <a:solidFill>
            <a:srgbClr val="14B8A6"/>
          </a:solidFill>
        </p:spPr>
      </p:sp>
      <p:sp>
        <p:nvSpPr>
          <p:cNvPr id="4" name="Text 2"/>
          <p:cNvSpPr txBox="1"/>
          <p:nvPr/>
        </p:nvSpPr>
        <p:spPr>
          <a:xfrm>
            <a:off x="457200" y="109728"/>
            <a:ext cx="8229600" cy="274320"/>
          </a:xfrm>
          <a:prstGeom prst="rect">
            <a:avLst/>
          </a:prstGeom>
          <a:noFill/>
        </p:spPr>
        <p:txBody>
          <a:bodyPr wrap="square" lIns="0" tIns="0" rIns="0" bIns="0" rtlCol="0" anchor="ctr"/>
          <a:lstStyle/>
          <a:p>
            <a:pPr marL="0" indent="0">
              <a:buNone/>
            </a:pPr>
            <a:r>
              <a:rPr lang="en-US" sz="1100" b="1" dirty="0">
                <a:solidFill>
                  <a:srgbClr val="14B8A6"/>
                </a:solidFill>
                <a:latin typeface="Calibri" panose="020F0502020204030204" pitchFamily="34" charset="0"/>
                <a:ea typeface="Calibri" panose="020F0502020204030204" pitchFamily="34" charset="-122"/>
                <a:cs typeface="Calibri" panose="020F0502020204030204" pitchFamily="34" charset="-120"/>
              </a:rPr>
              <a:t>Unit IV – Backtracking  |  Project 10</a:t>
            </a:r>
            <a:endParaRPr lang="en-US" sz="1100" dirty="0"/>
          </a:p>
        </p:txBody>
      </p:sp>
      <p:sp>
        <p:nvSpPr>
          <p:cNvPr id="5" name="Text 3"/>
          <p:cNvSpPr txBox="1"/>
          <p:nvPr/>
        </p:nvSpPr>
        <p:spPr>
          <a:xfrm>
            <a:off x="457200" y="384048"/>
            <a:ext cx="8229600" cy="411480"/>
          </a:xfrm>
          <a:prstGeom prst="rect">
            <a:avLst/>
          </a:prstGeom>
          <a:noFill/>
        </p:spPr>
        <p:txBody>
          <a:bodyPr wrap="square" lIns="0" tIns="0" rIns="0" bIns="0" rtlCol="0" anchor="ctr"/>
          <a:lstStyle/>
          <a:p>
            <a:pPr marL="0" indent="0">
              <a:buNone/>
            </a:pPr>
            <a:r>
              <a:rPr lang="en-US" sz="2200" b="1" dirty="0">
                <a:solidFill>
                  <a:srgbClr val="FFFFFF"/>
                </a:solidFill>
                <a:latin typeface="Calibri" panose="020F0502020204030204" pitchFamily="34" charset="0"/>
                <a:ea typeface="Calibri" panose="020F0502020204030204" pitchFamily="34" charset="-122"/>
                <a:cs typeface="Calibri" panose="020F0502020204030204" pitchFamily="34" charset="-120"/>
              </a:rPr>
              <a:t>N-Queens State Space Tree</a:t>
            </a:r>
            <a:endParaRPr lang="en-US" sz="2200" dirty="0"/>
          </a:p>
        </p:txBody>
      </p:sp>
      <p:sp>
        <p:nvSpPr>
          <p:cNvPr id="6" name="Text 4"/>
          <p:cNvSpPr txBox="1"/>
          <p:nvPr/>
        </p:nvSpPr>
        <p:spPr>
          <a:xfrm>
            <a:off x="457200" y="4800600"/>
            <a:ext cx="5486400" cy="228600"/>
          </a:xfrm>
          <a:prstGeom prst="rect">
            <a:avLst/>
          </a:prstGeom>
          <a:noFill/>
        </p:spPr>
        <p:txBody>
          <a:bodyPr wrap="square" lIns="0" tIns="0" rIns="0" bIns="0" rtlCol="0" anchor="ctr"/>
          <a:lstStyle/>
          <a:p>
            <a:pPr marL="0" indent="0">
              <a:buNone/>
            </a:pPr>
            <a:r>
              <a:rPr lang="en-US" sz="900" dirty="0">
                <a:solidFill>
                  <a:srgbClr val="64748B"/>
                </a:solidFill>
                <a:latin typeface="Calibri" panose="020F0502020204030204" pitchFamily="34" charset="0"/>
                <a:ea typeface="Calibri" panose="020F0502020204030204" pitchFamily="34" charset="-122"/>
                <a:cs typeface="Calibri" panose="020F0502020204030204" pitchFamily="34" charset="-120"/>
              </a:rPr>
              <a:t>Group 13  |  DAA Macro Project</a:t>
            </a:r>
            <a:endParaRPr lang="en-US" sz="900" dirty="0"/>
          </a:p>
        </p:txBody>
      </p:sp>
      <p:sp>
        <p:nvSpPr>
          <p:cNvPr id="7" name="Shape 5"/>
          <p:cNvSpPr/>
          <p:nvPr/>
        </p:nvSpPr>
        <p:spPr>
          <a:xfrm>
            <a:off x="457200" y="1234440"/>
            <a:ext cx="3657600" cy="3383280"/>
          </a:xfrm>
          <a:prstGeom prst="roundRect">
            <a:avLst>
              <a:gd name="adj" fmla="val 2162"/>
            </a:avLst>
          </a:prstGeom>
          <a:solidFill>
            <a:srgbClr val="FFFFFF"/>
          </a:solidFill>
          <a:ln w="9525">
            <a:solidFill>
              <a:srgbClr val="CBD5E1"/>
            </a:solidFill>
            <a:prstDash val="solid"/>
          </a:ln>
        </p:spPr>
      </p:sp>
      <p:sp>
        <p:nvSpPr>
          <p:cNvPr id="8" name="Shape 6"/>
          <p:cNvSpPr/>
          <p:nvPr/>
        </p:nvSpPr>
        <p:spPr>
          <a:xfrm>
            <a:off x="457200" y="1371600"/>
            <a:ext cx="54864" cy="274320"/>
          </a:xfrm>
          <a:prstGeom prst="rect">
            <a:avLst/>
          </a:prstGeom>
          <a:solidFill>
            <a:srgbClr val="14B8A6"/>
          </a:solidFill>
        </p:spPr>
      </p:sp>
      <p:sp>
        <p:nvSpPr>
          <p:cNvPr id="9" name="Text 7"/>
          <p:cNvSpPr txBox="1"/>
          <p:nvPr/>
        </p:nvSpPr>
        <p:spPr>
          <a:xfrm>
            <a:off x="640080" y="1344168"/>
            <a:ext cx="3291840" cy="320040"/>
          </a:xfrm>
          <a:prstGeom prst="rect">
            <a:avLst/>
          </a:prstGeom>
          <a:noFill/>
        </p:spPr>
        <p:txBody>
          <a:bodyPr wrap="square" lIns="0" tIns="0" rIns="0" bIns="0" rtlCol="0" anchor="ctr"/>
          <a:lstStyle/>
          <a:p>
            <a:pPr marL="0" indent="0">
              <a:buNone/>
            </a:pPr>
            <a:r>
              <a:rPr lang="en-US" sz="1300" b="1" dirty="0">
                <a:solidFill>
                  <a:srgbClr val="0F172A"/>
                </a:solidFill>
                <a:latin typeface="Calibri" panose="020F0502020204030204" pitchFamily="34" charset="0"/>
                <a:ea typeface="Calibri" panose="020F0502020204030204" pitchFamily="34" charset="-122"/>
                <a:cs typeface="Calibri" panose="020F0502020204030204" pitchFamily="34" charset="-120"/>
              </a:rPr>
              <a:t>Problem and Key Ideas</a:t>
            </a:r>
            <a:endParaRPr lang="en-US" sz="1300" dirty="0"/>
          </a:p>
        </p:txBody>
      </p:sp>
      <p:sp>
        <p:nvSpPr>
          <p:cNvPr id="10" name="Text 8"/>
          <p:cNvSpPr txBox="1"/>
          <p:nvPr/>
        </p:nvSpPr>
        <p:spPr>
          <a:xfrm>
            <a:off x="640080" y="1737360"/>
            <a:ext cx="3291840" cy="2788920"/>
          </a:xfrm>
          <a:prstGeom prst="rect">
            <a:avLst/>
          </a:prstGeom>
          <a:noFill/>
        </p:spPr>
        <p:txBody>
          <a:bodyPr wrap="square" lIns="0" tIns="0" rIns="0" bIns="0" rtlCol="0" anchor="t"/>
          <a:lstStyle/>
          <a:p>
            <a:pPr marL="0" indent="0">
              <a:spcAft>
                <a:spcPts val="400"/>
              </a:spcAft>
              <a:buNone/>
            </a:pPr>
            <a:endParaRPr lang="en-US" sz="1200" dirty="0"/>
          </a:p>
        </p:txBody>
      </p:sp>
      <p:sp>
        <p:nvSpPr>
          <p:cNvPr id="11" name="Text 9"/>
          <p:cNvSpPr txBox="1"/>
          <p:nvPr/>
        </p:nvSpPr>
        <p:spPr>
          <a:xfrm>
            <a:off x="640080" y="1737360"/>
            <a:ext cx="3291840" cy="2788920"/>
          </a:xfrm>
          <a:prstGeom prst="rect">
            <a:avLst/>
          </a:prstGeom>
          <a:noFill/>
        </p:spPr>
        <p:txBody>
          <a:bodyPr wrap="square" lIns="0" tIns="0" rIns="0" bIns="0" rtlCol="0" anchor="t"/>
          <a:lstStyle/>
          <a:p>
            <a:pPr marL="0" indent="0">
              <a:spcAft>
                <a:spcPts val="500"/>
              </a:spcAft>
              <a:buNone/>
            </a:pPr>
            <a:r>
              <a:rPr lang="en-US" sz="1200" dirty="0">
                <a:solidFill>
                  <a:srgbClr val="1E293B"/>
                </a:solidFill>
                <a:latin typeface="Calibri" panose="020F0502020204030204" pitchFamily="34" charset="0"/>
                <a:ea typeface="Calibri" panose="020F0502020204030204" pitchFamily="34" charset="-122"/>
                <a:cs typeface="Calibri" panose="020F0502020204030204" pitchFamily="34" charset="-120"/>
              </a:rPr>
              <a:t>Place 4 queens on a 4x4 board so that no two queens attack each other (same row, column or diagonal).</a:t>
            </a:r>
            <a:endParaRPr lang="en-US" sz="1200" dirty="0"/>
          </a:p>
          <a:p>
            <a:pPr marL="0" indent="0">
              <a:spcAft>
                <a:spcPts val="500"/>
              </a:spcAft>
              <a:buNone/>
            </a:pPr>
            <a:r>
              <a:rPr lang="en-US" sz="600" dirty="0">
                <a:solidFill>
                  <a:srgbClr val="1E293B"/>
                </a:solidFill>
                <a:latin typeface="Calibri" panose="020F0502020204030204" pitchFamily="34" charset="0"/>
                <a:ea typeface="Calibri" panose="020F0502020204030204" pitchFamily="34" charset="-122"/>
                <a:cs typeface="Calibri" panose="020F0502020204030204" pitchFamily="34" charset="-120"/>
              </a:rPr>
              <a:t> </a:t>
            </a:r>
            <a:endParaRPr lang="en-US" sz="1200" dirty="0"/>
          </a:p>
          <a:p>
            <a:pPr marL="342900" indent="-342900">
              <a:spcAft>
                <a:spcPts val="500"/>
              </a:spcAft>
              <a:buSzPct val="100000"/>
              <a:buChar char="•"/>
            </a:pPr>
            <a:r>
              <a:rPr lang="en-US" sz="1200" dirty="0">
                <a:solidFill>
                  <a:srgbClr val="1E293B"/>
                </a:solidFill>
                <a:latin typeface="Calibri" panose="020F0502020204030204" pitchFamily="34" charset="0"/>
                <a:ea typeface="Calibri" panose="020F0502020204030204" pitchFamily="34" charset="-122"/>
                <a:cs typeface="Calibri" panose="020F0502020204030204" pitchFamily="34" charset="-120"/>
              </a:rPr>
              <a:t>Place one queen per row, trying each column</a:t>
            </a:r>
            <a:endParaRPr lang="en-US" sz="1200" dirty="0"/>
          </a:p>
          <a:p>
            <a:pPr marL="342900" indent="-342900">
              <a:spcAft>
                <a:spcPts val="500"/>
              </a:spcAft>
              <a:buSzPct val="100000"/>
              <a:buChar char="•"/>
            </a:pPr>
            <a:r>
              <a:rPr lang="en-US" sz="1200" dirty="0">
                <a:solidFill>
                  <a:srgbClr val="1E293B"/>
                </a:solidFill>
                <a:latin typeface="Calibri" panose="020F0502020204030204" pitchFamily="34" charset="0"/>
                <a:ea typeface="Calibri" panose="020F0502020204030204" pitchFamily="34" charset="-122"/>
                <a:cs typeface="Calibri" panose="020F0502020204030204" pitchFamily="34" charset="-120"/>
              </a:rPr>
              <a:t>If a placement is unsafe, backtrack to the previous row</a:t>
            </a:r>
            <a:endParaRPr lang="en-US" sz="1200" dirty="0"/>
          </a:p>
          <a:p>
            <a:pPr marL="342900" indent="-342900">
              <a:spcAft>
                <a:spcPts val="500"/>
              </a:spcAft>
              <a:buSzPct val="100000"/>
              <a:buChar char="•"/>
            </a:pPr>
            <a:r>
              <a:rPr lang="en-US" sz="1200" dirty="0">
                <a:solidFill>
                  <a:srgbClr val="1E293B"/>
                </a:solidFill>
                <a:latin typeface="Calibri" panose="020F0502020204030204" pitchFamily="34" charset="0"/>
                <a:ea typeface="Calibri" panose="020F0502020204030204" pitchFamily="34" charset="-122"/>
                <a:cs typeface="Calibri" panose="020F0502020204030204" pitchFamily="34" charset="-120"/>
              </a:rPr>
              <a:t>Reaching row N means a valid solution is found</a:t>
            </a:r>
            <a:endParaRPr lang="en-US" sz="1200" dirty="0"/>
          </a:p>
        </p:txBody>
      </p:sp>
      <p:sp>
        <p:nvSpPr>
          <p:cNvPr id="12" name="Shape 10"/>
          <p:cNvSpPr/>
          <p:nvPr/>
        </p:nvSpPr>
        <p:spPr>
          <a:xfrm>
            <a:off x="4297680" y="1234440"/>
            <a:ext cx="4389120" cy="3383280"/>
          </a:xfrm>
          <a:prstGeom prst="roundRect">
            <a:avLst>
              <a:gd name="adj" fmla="val 2162"/>
            </a:avLst>
          </a:prstGeom>
          <a:solidFill>
            <a:srgbClr val="FFFFFF"/>
          </a:solidFill>
          <a:ln w="9525">
            <a:solidFill>
              <a:srgbClr val="CBD5E1"/>
            </a:solidFill>
            <a:prstDash val="solid"/>
          </a:ln>
        </p:spPr>
      </p:sp>
      <p:sp>
        <p:nvSpPr>
          <p:cNvPr id="13" name="Shape 11"/>
          <p:cNvSpPr/>
          <p:nvPr/>
        </p:nvSpPr>
        <p:spPr>
          <a:xfrm>
            <a:off x="4297680" y="1371600"/>
            <a:ext cx="54864" cy="274320"/>
          </a:xfrm>
          <a:prstGeom prst="rect">
            <a:avLst/>
          </a:prstGeom>
          <a:solidFill>
            <a:srgbClr val="14B8A6"/>
          </a:solidFill>
        </p:spPr>
      </p:sp>
      <p:sp>
        <p:nvSpPr>
          <p:cNvPr id="14" name="Text 12"/>
          <p:cNvSpPr txBox="1"/>
          <p:nvPr/>
        </p:nvSpPr>
        <p:spPr>
          <a:xfrm>
            <a:off x="4480560" y="1344168"/>
            <a:ext cx="4023360" cy="320040"/>
          </a:xfrm>
          <a:prstGeom prst="rect">
            <a:avLst/>
          </a:prstGeom>
          <a:noFill/>
        </p:spPr>
        <p:txBody>
          <a:bodyPr wrap="square" lIns="0" tIns="0" rIns="0" bIns="0" rtlCol="0" anchor="ctr"/>
          <a:lstStyle/>
          <a:p>
            <a:pPr marL="0" indent="0">
              <a:buNone/>
            </a:pPr>
            <a:r>
              <a:rPr lang="en-US" sz="1300" b="1" dirty="0">
                <a:solidFill>
                  <a:srgbClr val="0F172A"/>
                </a:solidFill>
                <a:latin typeface="Calibri" panose="020F0502020204030204" pitchFamily="34" charset="0"/>
                <a:ea typeface="Calibri" panose="020F0502020204030204" pitchFamily="34" charset="-122"/>
                <a:cs typeface="Calibri" panose="020F0502020204030204" pitchFamily="34" charset="-120"/>
              </a:rPr>
              <a:t>Algorithm (Pseudocode)</a:t>
            </a:r>
            <a:endParaRPr lang="en-US" sz="1300" dirty="0"/>
          </a:p>
        </p:txBody>
      </p:sp>
      <p:sp>
        <p:nvSpPr>
          <p:cNvPr id="15" name="Text 13"/>
          <p:cNvSpPr txBox="1"/>
          <p:nvPr/>
        </p:nvSpPr>
        <p:spPr>
          <a:xfrm>
            <a:off x="4480560" y="1737360"/>
            <a:ext cx="4023360" cy="2788920"/>
          </a:xfrm>
          <a:prstGeom prst="rect">
            <a:avLst/>
          </a:prstGeom>
          <a:noFill/>
        </p:spPr>
        <p:txBody>
          <a:bodyPr wrap="square" lIns="0" tIns="0" rIns="0" bIns="0" rtlCol="0" anchor="t"/>
          <a:lstStyle/>
          <a:p>
            <a:pPr marL="0" indent="0">
              <a:spcAft>
                <a:spcPts val="400"/>
              </a:spcAft>
              <a:buNone/>
            </a:pPr>
            <a:r>
              <a:rPr lang="en-US" sz="1050" dirty="0">
                <a:solidFill>
                  <a:srgbClr val="1E293B"/>
                </a:solidFill>
                <a:latin typeface="Consolas" panose="020B0609020204030204" pitchFamily="34" charset="0"/>
                <a:ea typeface="Consolas" panose="020B0609020204030204" pitchFamily="34" charset="-122"/>
                <a:cs typeface="Consolas" panose="020B0609020204030204" pitchFamily="34" charset="-120"/>
              </a:rPr>
              <a:t>Solve(row):</a:t>
            </a:r>
            <a:endParaRPr lang="en-US" sz="1050" dirty="0"/>
          </a:p>
          <a:p>
            <a:pPr marL="0" indent="0">
              <a:spcAft>
                <a:spcPts val="400"/>
              </a:spcAft>
              <a:buNone/>
            </a:pPr>
            <a:r>
              <a:rPr lang="en-US" sz="1050" dirty="0">
                <a:solidFill>
                  <a:srgbClr val="1E293B"/>
                </a:solidFill>
                <a:latin typeface="Consolas" panose="020B0609020204030204" pitchFamily="34" charset="0"/>
                <a:ea typeface="Consolas" panose="020B0609020204030204" pitchFamily="34" charset="-122"/>
                <a:cs typeface="Consolas" panose="020B0609020204030204" pitchFamily="34" charset="-120"/>
              </a:rPr>
              <a:t>  if row == N:</a:t>
            </a:r>
            <a:endParaRPr lang="en-US" sz="1050" dirty="0"/>
          </a:p>
          <a:p>
            <a:pPr marL="0" indent="0">
              <a:spcAft>
                <a:spcPts val="400"/>
              </a:spcAft>
              <a:buNone/>
            </a:pPr>
            <a:r>
              <a:rPr lang="en-US" sz="1050" dirty="0">
                <a:solidFill>
                  <a:srgbClr val="1E293B"/>
                </a:solidFill>
                <a:latin typeface="Consolas" panose="020B0609020204030204" pitchFamily="34" charset="0"/>
                <a:ea typeface="Consolas" panose="020B0609020204030204" pitchFamily="34" charset="-122"/>
                <a:cs typeface="Consolas" panose="020B0609020204030204" pitchFamily="34" charset="-120"/>
              </a:rPr>
              <a:t>    print solution; return</a:t>
            </a:r>
            <a:endParaRPr lang="en-US" sz="1050" dirty="0"/>
          </a:p>
          <a:p>
            <a:pPr marL="0" indent="0">
              <a:spcAft>
                <a:spcPts val="400"/>
              </a:spcAft>
              <a:buNone/>
            </a:pPr>
            <a:r>
              <a:rPr lang="en-US" sz="1050" dirty="0">
                <a:solidFill>
                  <a:srgbClr val="1E293B"/>
                </a:solidFill>
                <a:latin typeface="Consolas" panose="020B0609020204030204" pitchFamily="34" charset="0"/>
                <a:ea typeface="Consolas" panose="020B0609020204030204" pitchFamily="34" charset="-122"/>
                <a:cs typeface="Consolas" panose="020B0609020204030204" pitchFamily="34" charset="-120"/>
              </a:rPr>
              <a:t>  for col = 0..N-1:</a:t>
            </a:r>
            <a:endParaRPr lang="en-US" sz="1050" dirty="0"/>
          </a:p>
          <a:p>
            <a:pPr marL="0" indent="0">
              <a:spcAft>
                <a:spcPts val="400"/>
              </a:spcAft>
              <a:buNone/>
            </a:pPr>
            <a:r>
              <a:rPr lang="en-US" sz="1050" dirty="0">
                <a:solidFill>
                  <a:srgbClr val="1E293B"/>
                </a:solidFill>
                <a:latin typeface="Consolas" panose="020B0609020204030204" pitchFamily="34" charset="0"/>
                <a:ea typeface="Consolas" panose="020B0609020204030204" pitchFamily="34" charset="-122"/>
                <a:cs typeface="Consolas" panose="020B0609020204030204" pitchFamily="34" charset="-120"/>
              </a:rPr>
              <a:t>    if IsSafe(row, col):</a:t>
            </a:r>
            <a:endParaRPr lang="en-US" sz="1050" dirty="0"/>
          </a:p>
          <a:p>
            <a:pPr marL="0" indent="0">
              <a:spcAft>
                <a:spcPts val="400"/>
              </a:spcAft>
              <a:buNone/>
            </a:pPr>
            <a:r>
              <a:rPr lang="en-US" sz="1050" dirty="0">
                <a:solidFill>
                  <a:srgbClr val="1E293B"/>
                </a:solidFill>
                <a:latin typeface="Consolas" panose="020B0609020204030204" pitchFamily="34" charset="0"/>
                <a:ea typeface="Consolas" panose="020B0609020204030204" pitchFamily="34" charset="-122"/>
                <a:cs typeface="Consolas" panose="020B0609020204030204" pitchFamily="34" charset="-120"/>
              </a:rPr>
              <a:t>      place queen at (row, col)</a:t>
            </a:r>
            <a:endParaRPr lang="en-US" sz="1050" dirty="0"/>
          </a:p>
          <a:p>
            <a:pPr marL="0" indent="0">
              <a:spcAft>
                <a:spcPts val="400"/>
              </a:spcAft>
              <a:buNone/>
            </a:pPr>
            <a:r>
              <a:rPr lang="en-US" sz="1050" dirty="0">
                <a:solidFill>
                  <a:srgbClr val="1E293B"/>
                </a:solidFill>
                <a:latin typeface="Consolas" panose="020B0609020204030204" pitchFamily="34" charset="0"/>
                <a:ea typeface="Consolas" panose="020B0609020204030204" pitchFamily="34" charset="-122"/>
                <a:cs typeface="Consolas" panose="020B0609020204030204" pitchFamily="34" charset="-120"/>
              </a:rPr>
              <a:t>      Solve(row + 1)</a:t>
            </a:r>
            <a:endParaRPr lang="en-US" sz="1050" dirty="0"/>
          </a:p>
          <a:p>
            <a:pPr marL="0" indent="0">
              <a:spcAft>
                <a:spcPts val="400"/>
              </a:spcAft>
              <a:buNone/>
            </a:pPr>
            <a:r>
              <a:rPr lang="en-US" sz="1050" dirty="0">
                <a:solidFill>
                  <a:srgbClr val="1E293B"/>
                </a:solidFill>
                <a:latin typeface="Consolas" panose="020B0609020204030204" pitchFamily="34" charset="0"/>
                <a:ea typeface="Consolas" panose="020B0609020204030204" pitchFamily="34" charset="-122"/>
                <a:cs typeface="Consolas" panose="020B0609020204030204" pitchFamily="34" charset="-120"/>
              </a:rPr>
              <a:t>      remove queen   // backtrack</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F172A"/>
          </a:solidFill>
        </p:spPr>
      </p:sp>
      <p:sp>
        <p:nvSpPr>
          <p:cNvPr id="3" name="Shape 1"/>
          <p:cNvSpPr/>
          <p:nvPr/>
        </p:nvSpPr>
        <p:spPr>
          <a:xfrm>
            <a:off x="0" y="914400"/>
            <a:ext cx="9144000" cy="54864"/>
          </a:xfrm>
          <a:prstGeom prst="rect">
            <a:avLst/>
          </a:prstGeom>
          <a:solidFill>
            <a:srgbClr val="14B8A6"/>
          </a:solidFill>
        </p:spPr>
      </p:sp>
      <p:sp>
        <p:nvSpPr>
          <p:cNvPr id="4" name="Text 2"/>
          <p:cNvSpPr txBox="1"/>
          <p:nvPr/>
        </p:nvSpPr>
        <p:spPr>
          <a:xfrm>
            <a:off x="457200" y="109728"/>
            <a:ext cx="8229600" cy="274320"/>
          </a:xfrm>
          <a:prstGeom prst="rect">
            <a:avLst/>
          </a:prstGeom>
          <a:noFill/>
        </p:spPr>
        <p:txBody>
          <a:bodyPr wrap="square" lIns="0" tIns="0" rIns="0" bIns="0" rtlCol="0" anchor="ctr"/>
          <a:lstStyle/>
          <a:p>
            <a:pPr marL="0" indent="0">
              <a:buNone/>
            </a:pPr>
            <a:r>
              <a:rPr lang="en-US" sz="1100" b="1" dirty="0">
                <a:solidFill>
                  <a:srgbClr val="14B8A6"/>
                </a:solidFill>
                <a:latin typeface="Calibri" panose="020F0502020204030204" pitchFamily="34" charset="0"/>
                <a:ea typeface="Calibri" panose="020F0502020204030204" pitchFamily="34" charset="-122"/>
                <a:cs typeface="Calibri" panose="020F0502020204030204" pitchFamily="34" charset="-120"/>
              </a:rPr>
              <a:t>Unit IV – Backtracking  |  Project 10</a:t>
            </a:r>
            <a:endParaRPr lang="en-US" sz="1100" dirty="0"/>
          </a:p>
        </p:txBody>
      </p:sp>
      <p:sp>
        <p:nvSpPr>
          <p:cNvPr id="5" name="Text 3"/>
          <p:cNvSpPr txBox="1"/>
          <p:nvPr/>
        </p:nvSpPr>
        <p:spPr>
          <a:xfrm>
            <a:off x="457200" y="384048"/>
            <a:ext cx="8229600" cy="411480"/>
          </a:xfrm>
          <a:prstGeom prst="rect">
            <a:avLst/>
          </a:prstGeom>
          <a:noFill/>
        </p:spPr>
        <p:txBody>
          <a:bodyPr wrap="square" lIns="0" tIns="0" rIns="0" bIns="0" rtlCol="0" anchor="ctr"/>
          <a:lstStyle/>
          <a:p>
            <a:pPr marL="0" indent="0">
              <a:buNone/>
            </a:pPr>
            <a:r>
              <a:rPr lang="en-US" sz="2200" b="1" dirty="0">
                <a:solidFill>
                  <a:srgbClr val="FFFFFF"/>
                </a:solidFill>
                <a:latin typeface="Calibri" panose="020F0502020204030204" pitchFamily="34" charset="0"/>
                <a:ea typeface="Calibri" panose="020F0502020204030204" pitchFamily="34" charset="-122"/>
                <a:cs typeface="Calibri" panose="020F0502020204030204" pitchFamily="34" charset="-120"/>
              </a:rPr>
              <a:t>N-Queens State Space Tree: Prompt and Visualization</a:t>
            </a:r>
            <a:endParaRPr lang="en-US" sz="2200" dirty="0"/>
          </a:p>
        </p:txBody>
      </p:sp>
      <p:sp>
        <p:nvSpPr>
          <p:cNvPr id="6" name="Text 4"/>
          <p:cNvSpPr txBox="1"/>
          <p:nvPr/>
        </p:nvSpPr>
        <p:spPr>
          <a:xfrm>
            <a:off x="457200" y="4800600"/>
            <a:ext cx="5486400" cy="228600"/>
          </a:xfrm>
          <a:prstGeom prst="rect">
            <a:avLst/>
          </a:prstGeom>
          <a:noFill/>
        </p:spPr>
        <p:txBody>
          <a:bodyPr wrap="square" lIns="0" tIns="0" rIns="0" bIns="0" rtlCol="0" anchor="ctr"/>
          <a:lstStyle/>
          <a:p>
            <a:pPr marL="0" indent="0">
              <a:buNone/>
            </a:pPr>
            <a:r>
              <a:rPr lang="en-US" sz="900" dirty="0">
                <a:solidFill>
                  <a:srgbClr val="64748B"/>
                </a:solidFill>
                <a:latin typeface="Calibri" panose="020F0502020204030204" pitchFamily="34" charset="0"/>
                <a:ea typeface="Calibri" panose="020F0502020204030204" pitchFamily="34" charset="-122"/>
                <a:cs typeface="Calibri" panose="020F0502020204030204" pitchFamily="34" charset="-120"/>
              </a:rPr>
              <a:t>Group 13  |  DAA Macro Project</a:t>
            </a:r>
            <a:endParaRPr lang="en-US" sz="900" dirty="0"/>
          </a:p>
        </p:txBody>
      </p:sp>
      <p:sp>
        <p:nvSpPr>
          <p:cNvPr id="7" name="Shape 5"/>
          <p:cNvSpPr/>
          <p:nvPr/>
        </p:nvSpPr>
        <p:spPr>
          <a:xfrm>
            <a:off x="457200" y="1234440"/>
            <a:ext cx="3108960" cy="1508760"/>
          </a:xfrm>
          <a:prstGeom prst="roundRect">
            <a:avLst>
              <a:gd name="adj" fmla="val 4848"/>
            </a:avLst>
          </a:prstGeom>
          <a:solidFill>
            <a:srgbClr val="FFFFFF"/>
          </a:solidFill>
          <a:ln w="9525">
            <a:solidFill>
              <a:srgbClr val="CBD5E1"/>
            </a:solidFill>
            <a:prstDash val="solid"/>
          </a:ln>
        </p:spPr>
      </p:sp>
      <p:sp>
        <p:nvSpPr>
          <p:cNvPr id="8" name="Shape 6"/>
          <p:cNvSpPr/>
          <p:nvPr/>
        </p:nvSpPr>
        <p:spPr>
          <a:xfrm>
            <a:off x="457200" y="1371600"/>
            <a:ext cx="54864" cy="274320"/>
          </a:xfrm>
          <a:prstGeom prst="rect">
            <a:avLst/>
          </a:prstGeom>
          <a:solidFill>
            <a:srgbClr val="14B8A6"/>
          </a:solidFill>
        </p:spPr>
      </p:sp>
      <p:sp>
        <p:nvSpPr>
          <p:cNvPr id="9" name="Text 7"/>
          <p:cNvSpPr txBox="1"/>
          <p:nvPr/>
        </p:nvSpPr>
        <p:spPr>
          <a:xfrm>
            <a:off x="640080" y="1344168"/>
            <a:ext cx="2743200" cy="320040"/>
          </a:xfrm>
          <a:prstGeom prst="rect">
            <a:avLst/>
          </a:prstGeom>
          <a:noFill/>
        </p:spPr>
        <p:txBody>
          <a:bodyPr wrap="square" lIns="0" tIns="0" rIns="0" bIns="0" rtlCol="0" anchor="ctr"/>
          <a:lstStyle/>
          <a:p>
            <a:pPr marL="0" indent="0">
              <a:buNone/>
            </a:pPr>
            <a:r>
              <a:rPr lang="en-US" sz="1300" b="1" dirty="0">
                <a:solidFill>
                  <a:srgbClr val="0F172A"/>
                </a:solidFill>
                <a:latin typeface="Calibri" panose="020F0502020204030204" pitchFamily="34" charset="0"/>
                <a:ea typeface="Calibri" panose="020F0502020204030204" pitchFamily="34" charset="-122"/>
                <a:cs typeface="Calibri" panose="020F0502020204030204" pitchFamily="34" charset="-120"/>
              </a:rPr>
              <a:t>Prompt Used</a:t>
            </a:r>
            <a:endParaRPr lang="en-US" sz="1300" dirty="0"/>
          </a:p>
        </p:txBody>
      </p:sp>
      <p:sp>
        <p:nvSpPr>
          <p:cNvPr id="10" name="Text 8"/>
          <p:cNvSpPr txBox="1"/>
          <p:nvPr/>
        </p:nvSpPr>
        <p:spPr>
          <a:xfrm>
            <a:off x="640080" y="1737360"/>
            <a:ext cx="2743200" cy="914400"/>
          </a:xfrm>
          <a:prstGeom prst="rect">
            <a:avLst/>
          </a:prstGeom>
          <a:noFill/>
        </p:spPr>
        <p:txBody>
          <a:bodyPr wrap="square" lIns="0" tIns="0" rIns="0" bIns="0" rtlCol="0" anchor="t"/>
          <a:lstStyle/>
          <a:p>
            <a:pPr marL="0" indent="0">
              <a:spcAft>
                <a:spcPts val="400"/>
              </a:spcAft>
              <a:buNone/>
            </a:pPr>
            <a:r>
              <a:rPr lang="en-US" sz="1200" dirty="0">
                <a:solidFill>
                  <a:srgbClr val="1E293B"/>
                </a:solidFill>
                <a:latin typeface="Calibri" panose="020F0502020204030204" pitchFamily="34" charset="0"/>
                <a:ea typeface="Calibri" panose="020F0502020204030204" pitchFamily="34" charset="-122"/>
                <a:cs typeface="Calibri" panose="020F0502020204030204" pitchFamily="34" charset="-120"/>
              </a:rPr>
              <a:t>"Visualize the state space tree for N = 4 queens, marking invalid branches in red."</a:t>
            </a:r>
            <a:endParaRPr lang="en-US" sz="1200" dirty="0"/>
          </a:p>
        </p:txBody>
      </p:sp>
      <p:sp>
        <p:nvSpPr>
          <p:cNvPr id="11" name="Shape 9"/>
          <p:cNvSpPr/>
          <p:nvPr/>
        </p:nvSpPr>
        <p:spPr>
          <a:xfrm>
            <a:off x="457200" y="2880360"/>
            <a:ext cx="3108960" cy="1737360"/>
          </a:xfrm>
          <a:prstGeom prst="roundRect">
            <a:avLst>
              <a:gd name="adj" fmla="val 4211"/>
            </a:avLst>
          </a:prstGeom>
          <a:solidFill>
            <a:srgbClr val="FFFFFF"/>
          </a:solidFill>
          <a:ln w="9525">
            <a:solidFill>
              <a:srgbClr val="CBD5E1"/>
            </a:solidFill>
            <a:prstDash val="solid"/>
          </a:ln>
        </p:spPr>
      </p:sp>
      <p:sp>
        <p:nvSpPr>
          <p:cNvPr id="12" name="Shape 10"/>
          <p:cNvSpPr/>
          <p:nvPr/>
        </p:nvSpPr>
        <p:spPr>
          <a:xfrm>
            <a:off x="457200" y="3017520"/>
            <a:ext cx="54864" cy="274320"/>
          </a:xfrm>
          <a:prstGeom prst="rect">
            <a:avLst/>
          </a:prstGeom>
          <a:solidFill>
            <a:srgbClr val="14B8A6"/>
          </a:solidFill>
        </p:spPr>
      </p:sp>
      <p:sp>
        <p:nvSpPr>
          <p:cNvPr id="13" name="Text 11"/>
          <p:cNvSpPr txBox="1"/>
          <p:nvPr/>
        </p:nvSpPr>
        <p:spPr>
          <a:xfrm>
            <a:off x="640080" y="2990088"/>
            <a:ext cx="2743200" cy="320040"/>
          </a:xfrm>
          <a:prstGeom prst="rect">
            <a:avLst/>
          </a:prstGeom>
          <a:noFill/>
        </p:spPr>
        <p:txBody>
          <a:bodyPr wrap="square" lIns="0" tIns="0" rIns="0" bIns="0" rtlCol="0" anchor="ctr"/>
          <a:lstStyle/>
          <a:p>
            <a:pPr marL="0" indent="0">
              <a:buNone/>
            </a:pPr>
            <a:r>
              <a:rPr lang="en-US" sz="1300" b="1" dirty="0">
                <a:solidFill>
                  <a:srgbClr val="0F172A"/>
                </a:solidFill>
                <a:latin typeface="Calibri" panose="020F0502020204030204" pitchFamily="34" charset="0"/>
                <a:ea typeface="Calibri" panose="020F0502020204030204" pitchFamily="34" charset="-122"/>
                <a:cs typeface="Calibri" panose="020F0502020204030204" pitchFamily="34" charset="-120"/>
              </a:rPr>
              <a:t>How It Works</a:t>
            </a:r>
            <a:endParaRPr lang="en-US" sz="1300" dirty="0"/>
          </a:p>
        </p:txBody>
      </p:sp>
      <p:sp>
        <p:nvSpPr>
          <p:cNvPr id="14" name="Text 12"/>
          <p:cNvSpPr txBox="1"/>
          <p:nvPr/>
        </p:nvSpPr>
        <p:spPr>
          <a:xfrm>
            <a:off x="640080" y="3383280"/>
            <a:ext cx="2743200" cy="1143000"/>
          </a:xfrm>
          <a:prstGeom prst="rect">
            <a:avLst/>
          </a:prstGeom>
          <a:noFill/>
        </p:spPr>
        <p:txBody>
          <a:bodyPr wrap="square" lIns="0" tIns="0" rIns="0" bIns="0" rtlCol="0" anchor="t"/>
          <a:lstStyle/>
          <a:p>
            <a:pPr marL="0" indent="0">
              <a:spcAft>
                <a:spcPts val="400"/>
              </a:spcAft>
              <a:buNone/>
            </a:pPr>
            <a:r>
              <a:rPr lang="en-US" sz="1050" dirty="0">
                <a:solidFill>
                  <a:srgbClr val="1E293B"/>
                </a:solidFill>
                <a:latin typeface="Calibri" panose="020F0502020204030204" pitchFamily="34" charset="0"/>
                <a:ea typeface="Calibri" panose="020F0502020204030204" pitchFamily="34" charset="-122"/>
                <a:cs typeface="Calibri" panose="020F0502020204030204" pitchFamily="34" charset="-120"/>
              </a:rPr>
              <a:t>Each node is a partial placement. Valid branches continue downward, while invalid ones are marked red and cut off, showing exactly where the algorithm backtracks before finding a solution.</a:t>
            </a:r>
            <a:endParaRPr lang="en-US" sz="1050" dirty="0"/>
          </a:p>
        </p:txBody>
      </p:sp>
      <p:sp>
        <p:nvSpPr>
          <p:cNvPr id="15" name="Shape 13"/>
          <p:cNvSpPr/>
          <p:nvPr/>
        </p:nvSpPr>
        <p:spPr>
          <a:xfrm>
            <a:off x="3749040" y="1234440"/>
            <a:ext cx="4937760" cy="3383280"/>
          </a:xfrm>
          <a:prstGeom prst="roundRect">
            <a:avLst>
              <a:gd name="adj" fmla="val 2162"/>
            </a:avLst>
          </a:prstGeom>
          <a:solidFill>
            <a:srgbClr val="FFFFFF"/>
          </a:solidFill>
          <a:ln w="19050">
            <a:solidFill>
              <a:srgbClr val="14B8A6"/>
            </a:solidFill>
            <a:prstDash val="dash"/>
          </a:ln>
        </p:spPr>
      </p:sp>
      <p:pic>
        <p:nvPicPr>
          <p:cNvPr id="16" name="Image 0" descr="/home/claude/v4.png"/>
          <p:cNvPicPr>
            <a:picLocks noChangeAspect="1"/>
          </p:cNvPicPr>
          <p:nvPr/>
        </p:nvPicPr>
        <p:blipFill>
          <a:blip r:embed="rId1"/>
          <a:stretch>
            <a:fillRect/>
          </a:stretch>
        </p:blipFill>
        <p:spPr>
          <a:xfrm>
            <a:off x="3970519" y="1325880"/>
            <a:ext cx="4494803" cy="32004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F172A"/>
          </a:solidFill>
        </p:spPr>
      </p:sp>
      <p:sp>
        <p:nvSpPr>
          <p:cNvPr id="3" name="Shape 1"/>
          <p:cNvSpPr/>
          <p:nvPr/>
        </p:nvSpPr>
        <p:spPr>
          <a:xfrm>
            <a:off x="0" y="914400"/>
            <a:ext cx="9144000" cy="54864"/>
          </a:xfrm>
          <a:prstGeom prst="rect">
            <a:avLst/>
          </a:prstGeom>
          <a:solidFill>
            <a:srgbClr val="14B8A6"/>
          </a:solidFill>
        </p:spPr>
      </p:sp>
      <p:sp>
        <p:nvSpPr>
          <p:cNvPr id="4" name="Text 2"/>
          <p:cNvSpPr txBox="1"/>
          <p:nvPr/>
        </p:nvSpPr>
        <p:spPr>
          <a:xfrm>
            <a:off x="457200" y="109728"/>
            <a:ext cx="8229600" cy="274320"/>
          </a:xfrm>
          <a:prstGeom prst="rect">
            <a:avLst/>
          </a:prstGeom>
          <a:noFill/>
        </p:spPr>
        <p:txBody>
          <a:bodyPr wrap="square" lIns="0" tIns="0" rIns="0" bIns="0" rtlCol="0" anchor="ctr"/>
          <a:lstStyle/>
          <a:p>
            <a:pPr marL="0" indent="0">
              <a:buNone/>
            </a:pPr>
            <a:r>
              <a:rPr lang="en-US" sz="1100" b="1" dirty="0">
                <a:solidFill>
                  <a:srgbClr val="14B8A6"/>
                </a:solidFill>
                <a:latin typeface="Calibri" panose="020F0502020204030204" pitchFamily="34" charset="0"/>
                <a:ea typeface="Calibri" panose="020F0502020204030204" pitchFamily="34" charset="-122"/>
                <a:cs typeface="Calibri" panose="020F0502020204030204" pitchFamily="34" charset="-120"/>
              </a:rPr>
              <a:t>Unit V – Branch and Bound  |  Project 13</a:t>
            </a:r>
            <a:endParaRPr lang="en-US" sz="1100" dirty="0"/>
          </a:p>
        </p:txBody>
      </p:sp>
      <p:sp>
        <p:nvSpPr>
          <p:cNvPr id="5" name="Text 3"/>
          <p:cNvSpPr txBox="1"/>
          <p:nvPr/>
        </p:nvSpPr>
        <p:spPr>
          <a:xfrm>
            <a:off x="457200" y="384048"/>
            <a:ext cx="8229600" cy="411480"/>
          </a:xfrm>
          <a:prstGeom prst="rect">
            <a:avLst/>
          </a:prstGeom>
          <a:noFill/>
        </p:spPr>
        <p:txBody>
          <a:bodyPr wrap="square" lIns="0" tIns="0" rIns="0" bIns="0" rtlCol="0" anchor="ctr"/>
          <a:lstStyle/>
          <a:p>
            <a:pPr marL="0" indent="0">
              <a:buNone/>
            </a:pPr>
            <a:r>
              <a:rPr lang="en-US" sz="2200" b="1" dirty="0">
                <a:solidFill>
                  <a:srgbClr val="FFFFFF"/>
                </a:solidFill>
                <a:latin typeface="Calibri" panose="020F0502020204030204" pitchFamily="34" charset="0"/>
                <a:ea typeface="Calibri" panose="020F0502020204030204" pitchFamily="34" charset="-122"/>
                <a:cs typeface="Calibri" panose="020F0502020204030204" pitchFamily="34" charset="-120"/>
              </a:rPr>
              <a:t>Knapsack Branch-and-Bound Tree</a:t>
            </a:r>
            <a:endParaRPr lang="en-US" sz="2200" dirty="0"/>
          </a:p>
        </p:txBody>
      </p:sp>
      <p:sp>
        <p:nvSpPr>
          <p:cNvPr id="6" name="Text 4"/>
          <p:cNvSpPr txBox="1"/>
          <p:nvPr/>
        </p:nvSpPr>
        <p:spPr>
          <a:xfrm>
            <a:off x="457200" y="4800600"/>
            <a:ext cx="5486400" cy="228600"/>
          </a:xfrm>
          <a:prstGeom prst="rect">
            <a:avLst/>
          </a:prstGeom>
          <a:noFill/>
        </p:spPr>
        <p:txBody>
          <a:bodyPr wrap="square" lIns="0" tIns="0" rIns="0" bIns="0" rtlCol="0" anchor="ctr"/>
          <a:lstStyle/>
          <a:p>
            <a:pPr marL="0" indent="0">
              <a:buNone/>
            </a:pPr>
            <a:r>
              <a:rPr lang="en-US" sz="900" dirty="0">
                <a:solidFill>
                  <a:srgbClr val="64748B"/>
                </a:solidFill>
                <a:latin typeface="Calibri" panose="020F0502020204030204" pitchFamily="34" charset="0"/>
                <a:ea typeface="Calibri" panose="020F0502020204030204" pitchFamily="34" charset="-122"/>
                <a:cs typeface="Calibri" panose="020F0502020204030204" pitchFamily="34" charset="-120"/>
              </a:rPr>
              <a:t>Group 13  |  DAA Macro Project</a:t>
            </a:r>
            <a:endParaRPr lang="en-US" sz="900" dirty="0"/>
          </a:p>
        </p:txBody>
      </p:sp>
      <p:sp>
        <p:nvSpPr>
          <p:cNvPr id="7" name="Shape 5"/>
          <p:cNvSpPr/>
          <p:nvPr/>
        </p:nvSpPr>
        <p:spPr>
          <a:xfrm>
            <a:off x="457200" y="1234440"/>
            <a:ext cx="3657600" cy="3383280"/>
          </a:xfrm>
          <a:prstGeom prst="roundRect">
            <a:avLst>
              <a:gd name="adj" fmla="val 2162"/>
            </a:avLst>
          </a:prstGeom>
          <a:solidFill>
            <a:srgbClr val="FFFFFF"/>
          </a:solidFill>
          <a:ln w="9525">
            <a:solidFill>
              <a:srgbClr val="CBD5E1"/>
            </a:solidFill>
            <a:prstDash val="solid"/>
          </a:ln>
        </p:spPr>
      </p:sp>
      <p:sp>
        <p:nvSpPr>
          <p:cNvPr id="8" name="Shape 6"/>
          <p:cNvSpPr/>
          <p:nvPr/>
        </p:nvSpPr>
        <p:spPr>
          <a:xfrm>
            <a:off x="457200" y="1371600"/>
            <a:ext cx="54864" cy="274320"/>
          </a:xfrm>
          <a:prstGeom prst="rect">
            <a:avLst/>
          </a:prstGeom>
          <a:solidFill>
            <a:srgbClr val="14B8A6"/>
          </a:solidFill>
        </p:spPr>
      </p:sp>
      <p:sp>
        <p:nvSpPr>
          <p:cNvPr id="9" name="Text 7"/>
          <p:cNvSpPr txBox="1"/>
          <p:nvPr/>
        </p:nvSpPr>
        <p:spPr>
          <a:xfrm>
            <a:off x="640080" y="1344168"/>
            <a:ext cx="3291840" cy="320040"/>
          </a:xfrm>
          <a:prstGeom prst="rect">
            <a:avLst/>
          </a:prstGeom>
          <a:noFill/>
        </p:spPr>
        <p:txBody>
          <a:bodyPr wrap="square" lIns="0" tIns="0" rIns="0" bIns="0" rtlCol="0" anchor="ctr"/>
          <a:lstStyle/>
          <a:p>
            <a:pPr marL="0" indent="0">
              <a:buNone/>
            </a:pPr>
            <a:r>
              <a:rPr lang="en-US" sz="1300" b="1" dirty="0">
                <a:solidFill>
                  <a:srgbClr val="0F172A"/>
                </a:solidFill>
                <a:latin typeface="Calibri" panose="020F0502020204030204" pitchFamily="34" charset="0"/>
                <a:ea typeface="Calibri" panose="020F0502020204030204" pitchFamily="34" charset="-122"/>
                <a:cs typeface="Calibri" panose="020F0502020204030204" pitchFamily="34" charset="-120"/>
              </a:rPr>
              <a:t>Problem and Key Ideas</a:t>
            </a:r>
            <a:endParaRPr lang="en-US" sz="1300" dirty="0"/>
          </a:p>
        </p:txBody>
      </p:sp>
      <p:sp>
        <p:nvSpPr>
          <p:cNvPr id="10" name="Text 8"/>
          <p:cNvSpPr txBox="1"/>
          <p:nvPr/>
        </p:nvSpPr>
        <p:spPr>
          <a:xfrm>
            <a:off x="640080" y="1737360"/>
            <a:ext cx="3291840" cy="2788920"/>
          </a:xfrm>
          <a:prstGeom prst="rect">
            <a:avLst/>
          </a:prstGeom>
          <a:noFill/>
        </p:spPr>
        <p:txBody>
          <a:bodyPr wrap="square" lIns="0" tIns="0" rIns="0" bIns="0" rtlCol="0" anchor="t"/>
          <a:lstStyle/>
          <a:p>
            <a:pPr marL="0" indent="0">
              <a:spcAft>
                <a:spcPts val="400"/>
              </a:spcAft>
              <a:buNone/>
            </a:pPr>
            <a:endParaRPr lang="en-US" sz="1200" dirty="0"/>
          </a:p>
        </p:txBody>
      </p:sp>
      <p:sp>
        <p:nvSpPr>
          <p:cNvPr id="11" name="Text 9"/>
          <p:cNvSpPr txBox="1"/>
          <p:nvPr/>
        </p:nvSpPr>
        <p:spPr>
          <a:xfrm>
            <a:off x="640080" y="1737360"/>
            <a:ext cx="3291840" cy="2788920"/>
          </a:xfrm>
          <a:prstGeom prst="rect">
            <a:avLst/>
          </a:prstGeom>
          <a:noFill/>
        </p:spPr>
        <p:txBody>
          <a:bodyPr wrap="square" lIns="0" tIns="0" rIns="0" bIns="0" rtlCol="0" anchor="t"/>
          <a:lstStyle/>
          <a:p>
            <a:pPr marL="0" indent="0">
              <a:spcAft>
                <a:spcPts val="500"/>
              </a:spcAft>
              <a:buNone/>
            </a:pPr>
            <a:r>
              <a:rPr lang="en-US" sz="1200" dirty="0">
                <a:solidFill>
                  <a:srgbClr val="1E293B"/>
                </a:solidFill>
                <a:latin typeface="Calibri" panose="020F0502020204030204" pitchFamily="34" charset="0"/>
                <a:ea typeface="Calibri" panose="020F0502020204030204" pitchFamily="34" charset="-122"/>
                <a:cs typeface="Calibri" panose="020F0502020204030204" pitchFamily="34" charset="-120"/>
              </a:rPr>
              <a:t>Solve 0/1 Knapsack by exploring a tree of include/exclude decisions, cutting off branches that cannot beat the best known solution.</a:t>
            </a:r>
            <a:endParaRPr lang="en-US" sz="1200" dirty="0"/>
          </a:p>
          <a:p>
            <a:pPr marL="0" indent="0">
              <a:spcAft>
                <a:spcPts val="500"/>
              </a:spcAft>
              <a:buNone/>
            </a:pPr>
            <a:r>
              <a:rPr lang="en-US" sz="600" dirty="0">
                <a:solidFill>
                  <a:srgbClr val="1E293B"/>
                </a:solidFill>
                <a:latin typeface="Calibri" panose="020F0502020204030204" pitchFamily="34" charset="0"/>
                <a:ea typeface="Calibri" panose="020F0502020204030204" pitchFamily="34" charset="-122"/>
                <a:cs typeface="Calibri" panose="020F0502020204030204" pitchFamily="34" charset="-120"/>
              </a:rPr>
              <a:t> </a:t>
            </a:r>
            <a:endParaRPr lang="en-US" sz="1200" dirty="0"/>
          </a:p>
          <a:p>
            <a:pPr marL="342900" indent="-342900">
              <a:spcAft>
                <a:spcPts val="500"/>
              </a:spcAft>
              <a:buSzPct val="100000"/>
              <a:buChar char="•"/>
            </a:pPr>
            <a:r>
              <a:rPr lang="en-US" sz="1200" dirty="0">
                <a:solidFill>
                  <a:srgbClr val="1E293B"/>
                </a:solidFill>
                <a:latin typeface="Calibri" panose="020F0502020204030204" pitchFamily="34" charset="0"/>
                <a:ea typeface="Calibri" panose="020F0502020204030204" pitchFamily="34" charset="-122"/>
                <a:cs typeface="Calibri" panose="020F0502020204030204" pitchFamily="34" charset="-120"/>
              </a:rPr>
              <a:t>Each node stores weight, value and an upper bound</a:t>
            </a:r>
            <a:endParaRPr lang="en-US" sz="1200" dirty="0"/>
          </a:p>
          <a:p>
            <a:pPr marL="342900" indent="-342900">
              <a:spcAft>
                <a:spcPts val="500"/>
              </a:spcAft>
              <a:buSzPct val="100000"/>
              <a:buChar char="•"/>
            </a:pPr>
            <a:r>
              <a:rPr lang="en-US" sz="1200" dirty="0">
                <a:solidFill>
                  <a:srgbClr val="1E293B"/>
                </a:solidFill>
                <a:latin typeface="Calibri" panose="020F0502020204030204" pitchFamily="34" charset="0"/>
                <a:ea typeface="Calibri" panose="020F0502020204030204" pitchFamily="34" charset="-122"/>
                <a:cs typeface="Calibri" panose="020F0502020204030204" pitchFamily="34" charset="-120"/>
              </a:rPr>
              <a:t>Bound is computed with a fractional knapsack estimate</a:t>
            </a:r>
            <a:endParaRPr lang="en-US" sz="1200" dirty="0"/>
          </a:p>
          <a:p>
            <a:pPr marL="342900" indent="-342900">
              <a:spcAft>
                <a:spcPts val="500"/>
              </a:spcAft>
              <a:buSzPct val="100000"/>
              <a:buChar char="•"/>
            </a:pPr>
            <a:r>
              <a:rPr lang="en-US" sz="1200" dirty="0">
                <a:solidFill>
                  <a:srgbClr val="1E293B"/>
                </a:solidFill>
                <a:latin typeface="Calibri" panose="020F0502020204030204" pitchFamily="34" charset="0"/>
                <a:ea typeface="Calibri" panose="020F0502020204030204" pitchFamily="34" charset="-122"/>
                <a:cs typeface="Calibri" panose="020F0502020204030204" pitchFamily="34" charset="-120"/>
              </a:rPr>
              <a:t>Nodes with bound ≤ best value are pruned</a:t>
            </a:r>
            <a:endParaRPr lang="en-US" sz="1200" dirty="0"/>
          </a:p>
        </p:txBody>
      </p:sp>
      <p:sp>
        <p:nvSpPr>
          <p:cNvPr id="12" name="Shape 10"/>
          <p:cNvSpPr/>
          <p:nvPr/>
        </p:nvSpPr>
        <p:spPr>
          <a:xfrm>
            <a:off x="4297680" y="1234440"/>
            <a:ext cx="4389120" cy="3383280"/>
          </a:xfrm>
          <a:prstGeom prst="roundRect">
            <a:avLst>
              <a:gd name="adj" fmla="val 2162"/>
            </a:avLst>
          </a:prstGeom>
          <a:solidFill>
            <a:srgbClr val="FFFFFF"/>
          </a:solidFill>
          <a:ln w="9525">
            <a:solidFill>
              <a:srgbClr val="CBD5E1"/>
            </a:solidFill>
            <a:prstDash val="solid"/>
          </a:ln>
        </p:spPr>
      </p:sp>
      <p:sp>
        <p:nvSpPr>
          <p:cNvPr id="13" name="Shape 11"/>
          <p:cNvSpPr/>
          <p:nvPr/>
        </p:nvSpPr>
        <p:spPr>
          <a:xfrm>
            <a:off x="4297680" y="1371600"/>
            <a:ext cx="54864" cy="274320"/>
          </a:xfrm>
          <a:prstGeom prst="rect">
            <a:avLst/>
          </a:prstGeom>
          <a:solidFill>
            <a:srgbClr val="14B8A6"/>
          </a:solidFill>
        </p:spPr>
      </p:sp>
      <p:sp>
        <p:nvSpPr>
          <p:cNvPr id="14" name="Text 12"/>
          <p:cNvSpPr txBox="1"/>
          <p:nvPr/>
        </p:nvSpPr>
        <p:spPr>
          <a:xfrm>
            <a:off x="4480560" y="1344168"/>
            <a:ext cx="4023360" cy="320040"/>
          </a:xfrm>
          <a:prstGeom prst="rect">
            <a:avLst/>
          </a:prstGeom>
          <a:noFill/>
        </p:spPr>
        <p:txBody>
          <a:bodyPr wrap="square" lIns="0" tIns="0" rIns="0" bIns="0" rtlCol="0" anchor="ctr"/>
          <a:lstStyle/>
          <a:p>
            <a:pPr marL="0" indent="0">
              <a:buNone/>
            </a:pPr>
            <a:r>
              <a:rPr lang="en-US" sz="1300" b="1" dirty="0">
                <a:solidFill>
                  <a:srgbClr val="0F172A"/>
                </a:solidFill>
                <a:latin typeface="Calibri" panose="020F0502020204030204" pitchFamily="34" charset="0"/>
                <a:ea typeface="Calibri" panose="020F0502020204030204" pitchFamily="34" charset="-122"/>
                <a:cs typeface="Calibri" panose="020F0502020204030204" pitchFamily="34" charset="-120"/>
              </a:rPr>
              <a:t>Algorithm (Pseudocode)</a:t>
            </a:r>
            <a:endParaRPr lang="en-US" sz="1300" dirty="0"/>
          </a:p>
        </p:txBody>
      </p:sp>
      <p:sp>
        <p:nvSpPr>
          <p:cNvPr id="15" name="Text 13"/>
          <p:cNvSpPr txBox="1"/>
          <p:nvPr/>
        </p:nvSpPr>
        <p:spPr>
          <a:xfrm>
            <a:off x="4480560" y="1737360"/>
            <a:ext cx="4023360" cy="2788920"/>
          </a:xfrm>
          <a:prstGeom prst="rect">
            <a:avLst/>
          </a:prstGeom>
          <a:noFill/>
        </p:spPr>
        <p:txBody>
          <a:bodyPr wrap="square" lIns="0" tIns="0" rIns="0" bIns="0" rtlCol="0" anchor="t"/>
          <a:lstStyle/>
          <a:p>
            <a:pPr marL="0" indent="0">
              <a:spcAft>
                <a:spcPts val="400"/>
              </a:spcAft>
              <a:buNone/>
            </a:pPr>
            <a:r>
              <a:rPr lang="en-US" sz="1050" dirty="0">
                <a:solidFill>
                  <a:srgbClr val="1E293B"/>
                </a:solidFill>
                <a:latin typeface="Consolas" panose="020B0609020204030204" pitchFamily="34" charset="0"/>
                <a:ea typeface="Consolas" panose="020B0609020204030204" pitchFamily="34" charset="-122"/>
                <a:cs typeface="Consolas" panose="020B0609020204030204" pitchFamily="34" charset="-120"/>
              </a:rPr>
              <a:t>BnB(items sorted by value/weight):</a:t>
            </a:r>
            <a:endParaRPr lang="en-US" sz="1050" dirty="0"/>
          </a:p>
          <a:p>
            <a:pPr marL="0" indent="0">
              <a:spcAft>
                <a:spcPts val="400"/>
              </a:spcAft>
              <a:buNone/>
            </a:pPr>
            <a:r>
              <a:rPr lang="en-US" sz="1050" dirty="0">
                <a:solidFill>
                  <a:srgbClr val="1E293B"/>
                </a:solidFill>
                <a:latin typeface="Consolas" panose="020B0609020204030204" pitchFamily="34" charset="0"/>
                <a:ea typeface="Consolas" panose="020B0609020204030204" pitchFamily="34" charset="-122"/>
                <a:cs typeface="Consolas" panose="020B0609020204030204" pitchFamily="34" charset="-120"/>
              </a:rPr>
              <a:t>  Q = priority queue; push root</a:t>
            </a:r>
            <a:endParaRPr lang="en-US" sz="1050" dirty="0"/>
          </a:p>
          <a:p>
            <a:pPr marL="0" indent="0">
              <a:spcAft>
                <a:spcPts val="400"/>
              </a:spcAft>
              <a:buNone/>
            </a:pPr>
            <a:r>
              <a:rPr lang="en-US" sz="1050" dirty="0">
                <a:solidFill>
                  <a:srgbClr val="1E293B"/>
                </a:solidFill>
                <a:latin typeface="Consolas" panose="020B0609020204030204" pitchFamily="34" charset="0"/>
                <a:ea typeface="Consolas" panose="020B0609020204030204" pitchFamily="34" charset="-122"/>
                <a:cs typeface="Consolas" panose="020B0609020204030204" pitchFamily="34" charset="-120"/>
              </a:rPr>
              <a:t>  best = 0</a:t>
            </a:r>
            <a:endParaRPr lang="en-US" sz="1050" dirty="0"/>
          </a:p>
          <a:p>
            <a:pPr marL="0" indent="0">
              <a:spcAft>
                <a:spcPts val="400"/>
              </a:spcAft>
              <a:buNone/>
            </a:pPr>
            <a:r>
              <a:rPr lang="en-US" sz="1050" dirty="0">
                <a:solidFill>
                  <a:srgbClr val="1E293B"/>
                </a:solidFill>
                <a:latin typeface="Consolas" panose="020B0609020204030204" pitchFamily="34" charset="0"/>
                <a:ea typeface="Consolas" panose="020B0609020204030204" pitchFamily="34" charset="-122"/>
                <a:cs typeface="Consolas" panose="020B0609020204030204" pitchFamily="34" charset="-120"/>
              </a:rPr>
              <a:t>  while Q not empty:</a:t>
            </a:r>
            <a:endParaRPr lang="en-US" sz="1050" dirty="0"/>
          </a:p>
          <a:p>
            <a:pPr marL="0" indent="0">
              <a:spcAft>
                <a:spcPts val="400"/>
              </a:spcAft>
              <a:buNone/>
            </a:pPr>
            <a:r>
              <a:rPr lang="en-US" sz="1050" dirty="0">
                <a:solidFill>
                  <a:srgbClr val="1E293B"/>
                </a:solidFill>
                <a:latin typeface="Consolas" panose="020B0609020204030204" pitchFamily="34" charset="0"/>
                <a:ea typeface="Consolas" panose="020B0609020204030204" pitchFamily="34" charset="-122"/>
                <a:cs typeface="Consolas" panose="020B0609020204030204" pitchFamily="34" charset="-120"/>
              </a:rPr>
              <a:t>    u = Q.pop()</a:t>
            </a:r>
            <a:endParaRPr lang="en-US" sz="1050" dirty="0"/>
          </a:p>
          <a:p>
            <a:pPr marL="0" indent="0">
              <a:spcAft>
                <a:spcPts val="400"/>
              </a:spcAft>
              <a:buNone/>
            </a:pPr>
            <a:r>
              <a:rPr lang="en-US" sz="1050" dirty="0">
                <a:solidFill>
                  <a:srgbClr val="1E293B"/>
                </a:solidFill>
                <a:latin typeface="Consolas" panose="020B0609020204030204" pitchFamily="34" charset="0"/>
                <a:ea typeface="Consolas" panose="020B0609020204030204" pitchFamily="34" charset="-122"/>
                <a:cs typeface="Consolas" panose="020B0609020204030204" pitchFamily="34" charset="-120"/>
              </a:rPr>
              <a:t>    if u.bound &gt; best:</a:t>
            </a:r>
            <a:endParaRPr lang="en-US" sz="1050" dirty="0"/>
          </a:p>
          <a:p>
            <a:pPr marL="0" indent="0">
              <a:spcAft>
                <a:spcPts val="400"/>
              </a:spcAft>
              <a:buNone/>
            </a:pPr>
            <a:r>
              <a:rPr lang="en-US" sz="1050" dirty="0">
                <a:solidFill>
                  <a:srgbClr val="1E293B"/>
                </a:solidFill>
                <a:latin typeface="Consolas" panose="020B0609020204030204" pitchFamily="34" charset="0"/>
                <a:ea typeface="Consolas" panose="020B0609020204030204" pitchFamily="34" charset="-122"/>
                <a:cs typeface="Consolas" panose="020B0609020204030204" pitchFamily="34" charset="-120"/>
              </a:rPr>
              <a:t>      take = child(include next item)</a:t>
            </a:r>
            <a:endParaRPr lang="en-US" sz="1050" dirty="0"/>
          </a:p>
          <a:p>
            <a:pPr marL="0" indent="0">
              <a:spcAft>
                <a:spcPts val="400"/>
              </a:spcAft>
              <a:buNone/>
            </a:pPr>
            <a:r>
              <a:rPr lang="en-US" sz="1050" dirty="0">
                <a:solidFill>
                  <a:srgbClr val="1E293B"/>
                </a:solidFill>
                <a:latin typeface="Consolas" panose="020B0609020204030204" pitchFamily="34" charset="0"/>
                <a:ea typeface="Consolas" panose="020B0609020204030204" pitchFamily="34" charset="-122"/>
                <a:cs typeface="Consolas" panose="020B0609020204030204" pitchFamily="34" charset="-120"/>
              </a:rPr>
              <a:t>      if take.weight &lt;= W:</a:t>
            </a:r>
            <a:endParaRPr lang="en-US" sz="1050" dirty="0"/>
          </a:p>
          <a:p>
            <a:pPr marL="0" indent="0">
              <a:spcAft>
                <a:spcPts val="400"/>
              </a:spcAft>
              <a:buNone/>
            </a:pPr>
            <a:r>
              <a:rPr lang="en-US" sz="1050" dirty="0">
                <a:solidFill>
                  <a:srgbClr val="1E293B"/>
                </a:solidFill>
                <a:latin typeface="Consolas" panose="020B0609020204030204" pitchFamily="34" charset="0"/>
                <a:ea typeface="Consolas" panose="020B0609020204030204" pitchFamily="34" charset="-122"/>
                <a:cs typeface="Consolas" panose="020B0609020204030204" pitchFamily="34" charset="-120"/>
              </a:rPr>
              <a:t>        best = max(best, take.value)</a:t>
            </a:r>
            <a:endParaRPr lang="en-US" sz="1050" dirty="0"/>
          </a:p>
          <a:p>
            <a:pPr marL="0" indent="0">
              <a:spcAft>
                <a:spcPts val="400"/>
              </a:spcAft>
              <a:buNone/>
            </a:pPr>
            <a:r>
              <a:rPr lang="en-US" sz="1050" dirty="0">
                <a:solidFill>
                  <a:srgbClr val="1E293B"/>
                </a:solidFill>
                <a:latin typeface="Consolas" panose="020B0609020204030204" pitchFamily="34" charset="0"/>
                <a:ea typeface="Consolas" panose="020B0609020204030204" pitchFamily="34" charset="-122"/>
                <a:cs typeface="Consolas" panose="020B0609020204030204" pitchFamily="34" charset="-120"/>
              </a:rPr>
              <a:t>      if take.bound &gt; best: Q.push(take)</a:t>
            </a:r>
            <a:endParaRPr lang="en-US" sz="1050" dirty="0"/>
          </a:p>
          <a:p>
            <a:pPr marL="0" indent="0">
              <a:spcAft>
                <a:spcPts val="400"/>
              </a:spcAft>
              <a:buNone/>
            </a:pPr>
            <a:r>
              <a:rPr lang="en-US" sz="1050" dirty="0">
                <a:solidFill>
                  <a:srgbClr val="1E293B"/>
                </a:solidFill>
                <a:latin typeface="Consolas" panose="020B0609020204030204" pitchFamily="34" charset="0"/>
                <a:ea typeface="Consolas" panose="020B0609020204030204" pitchFamily="34" charset="-122"/>
                <a:cs typeface="Consolas" panose="020B0609020204030204" pitchFamily="34" charset="-120"/>
              </a:rPr>
              <a:t>      skip = child(exclude next item)</a:t>
            </a:r>
            <a:endParaRPr lang="en-US" sz="1050" dirty="0"/>
          </a:p>
          <a:p>
            <a:pPr marL="0" indent="0">
              <a:spcAft>
                <a:spcPts val="400"/>
              </a:spcAft>
              <a:buNone/>
            </a:pPr>
            <a:r>
              <a:rPr lang="en-US" sz="1050" dirty="0">
                <a:solidFill>
                  <a:srgbClr val="1E293B"/>
                </a:solidFill>
                <a:latin typeface="Consolas" panose="020B0609020204030204" pitchFamily="34" charset="0"/>
                <a:ea typeface="Consolas" panose="020B0609020204030204" pitchFamily="34" charset="-122"/>
                <a:cs typeface="Consolas" panose="020B0609020204030204" pitchFamily="34" charset="-120"/>
              </a:rPr>
              <a:t>      if skip.bound &gt; best: Q.push(skip)</a:t>
            </a:r>
            <a:endParaRPr lang="en-US" sz="1050" dirty="0"/>
          </a:p>
          <a:p>
            <a:pPr marL="0" indent="0">
              <a:spcAft>
                <a:spcPts val="400"/>
              </a:spcAft>
              <a:buNone/>
            </a:pPr>
            <a:r>
              <a:rPr lang="en-US" sz="1050" dirty="0">
                <a:solidFill>
                  <a:srgbClr val="1E293B"/>
                </a:solidFill>
                <a:latin typeface="Consolas" panose="020B0609020204030204" pitchFamily="34" charset="0"/>
                <a:ea typeface="Consolas" panose="020B0609020204030204" pitchFamily="34" charset="-122"/>
                <a:cs typeface="Consolas" panose="020B0609020204030204" pitchFamily="34" charset="-120"/>
              </a:rPr>
              <a:t>  return best</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F172A"/>
          </a:solidFill>
        </p:spPr>
      </p:sp>
      <p:sp>
        <p:nvSpPr>
          <p:cNvPr id="3" name="Shape 1"/>
          <p:cNvSpPr/>
          <p:nvPr/>
        </p:nvSpPr>
        <p:spPr>
          <a:xfrm>
            <a:off x="0" y="914400"/>
            <a:ext cx="9144000" cy="54864"/>
          </a:xfrm>
          <a:prstGeom prst="rect">
            <a:avLst/>
          </a:prstGeom>
          <a:solidFill>
            <a:srgbClr val="14B8A6"/>
          </a:solidFill>
        </p:spPr>
      </p:sp>
      <p:sp>
        <p:nvSpPr>
          <p:cNvPr id="4" name="Text 2"/>
          <p:cNvSpPr txBox="1"/>
          <p:nvPr/>
        </p:nvSpPr>
        <p:spPr>
          <a:xfrm>
            <a:off x="457200" y="109728"/>
            <a:ext cx="8229600" cy="274320"/>
          </a:xfrm>
          <a:prstGeom prst="rect">
            <a:avLst/>
          </a:prstGeom>
          <a:noFill/>
        </p:spPr>
        <p:txBody>
          <a:bodyPr wrap="square" lIns="0" tIns="0" rIns="0" bIns="0" rtlCol="0" anchor="ctr"/>
          <a:lstStyle/>
          <a:p>
            <a:pPr marL="0" indent="0">
              <a:buNone/>
            </a:pPr>
            <a:r>
              <a:rPr lang="en-US" sz="1100" b="1" dirty="0">
                <a:solidFill>
                  <a:srgbClr val="14B8A6"/>
                </a:solidFill>
                <a:latin typeface="Calibri" panose="020F0502020204030204" pitchFamily="34" charset="0"/>
                <a:ea typeface="Calibri" panose="020F0502020204030204" pitchFamily="34" charset="-122"/>
                <a:cs typeface="Calibri" panose="020F0502020204030204" pitchFamily="34" charset="-120"/>
              </a:rPr>
              <a:t>Unit V – Branch and Bound  |  Project 13</a:t>
            </a:r>
            <a:endParaRPr lang="en-US" sz="1100" dirty="0"/>
          </a:p>
        </p:txBody>
      </p:sp>
      <p:sp>
        <p:nvSpPr>
          <p:cNvPr id="5" name="Text 3"/>
          <p:cNvSpPr txBox="1"/>
          <p:nvPr/>
        </p:nvSpPr>
        <p:spPr>
          <a:xfrm>
            <a:off x="457200" y="384048"/>
            <a:ext cx="8229600" cy="411480"/>
          </a:xfrm>
          <a:prstGeom prst="rect">
            <a:avLst/>
          </a:prstGeom>
          <a:noFill/>
        </p:spPr>
        <p:txBody>
          <a:bodyPr wrap="square" lIns="0" tIns="0" rIns="0" bIns="0" rtlCol="0" anchor="ctr"/>
          <a:lstStyle/>
          <a:p>
            <a:pPr marL="0" indent="0">
              <a:buNone/>
            </a:pPr>
            <a:r>
              <a:rPr lang="en-US" sz="2200" b="1" dirty="0">
                <a:solidFill>
                  <a:srgbClr val="FFFFFF"/>
                </a:solidFill>
                <a:latin typeface="Calibri" panose="020F0502020204030204" pitchFamily="34" charset="0"/>
                <a:ea typeface="Calibri" panose="020F0502020204030204" pitchFamily="34" charset="-122"/>
                <a:cs typeface="Calibri" panose="020F0502020204030204" pitchFamily="34" charset="-120"/>
              </a:rPr>
              <a:t>Knapsack Branch-and-Bound Tree: Prompt and Visualization</a:t>
            </a:r>
            <a:endParaRPr lang="en-US" sz="2200" dirty="0"/>
          </a:p>
        </p:txBody>
      </p:sp>
      <p:sp>
        <p:nvSpPr>
          <p:cNvPr id="6" name="Text 4"/>
          <p:cNvSpPr txBox="1"/>
          <p:nvPr/>
        </p:nvSpPr>
        <p:spPr>
          <a:xfrm>
            <a:off x="457200" y="4800600"/>
            <a:ext cx="5486400" cy="228600"/>
          </a:xfrm>
          <a:prstGeom prst="rect">
            <a:avLst/>
          </a:prstGeom>
          <a:noFill/>
        </p:spPr>
        <p:txBody>
          <a:bodyPr wrap="square" lIns="0" tIns="0" rIns="0" bIns="0" rtlCol="0" anchor="ctr"/>
          <a:lstStyle/>
          <a:p>
            <a:pPr marL="0" indent="0">
              <a:buNone/>
            </a:pPr>
            <a:r>
              <a:rPr lang="en-US" sz="900" dirty="0">
                <a:solidFill>
                  <a:srgbClr val="64748B"/>
                </a:solidFill>
                <a:latin typeface="Calibri" panose="020F0502020204030204" pitchFamily="34" charset="0"/>
                <a:ea typeface="Calibri" panose="020F0502020204030204" pitchFamily="34" charset="-122"/>
                <a:cs typeface="Calibri" panose="020F0502020204030204" pitchFamily="34" charset="-120"/>
              </a:rPr>
              <a:t>Group 13  |  DAA Macro Project</a:t>
            </a:r>
            <a:endParaRPr lang="en-US" sz="900" dirty="0"/>
          </a:p>
        </p:txBody>
      </p:sp>
      <p:sp>
        <p:nvSpPr>
          <p:cNvPr id="7" name="Shape 5"/>
          <p:cNvSpPr/>
          <p:nvPr/>
        </p:nvSpPr>
        <p:spPr>
          <a:xfrm>
            <a:off x="457200" y="1234440"/>
            <a:ext cx="3108960" cy="1508760"/>
          </a:xfrm>
          <a:prstGeom prst="roundRect">
            <a:avLst>
              <a:gd name="adj" fmla="val 4848"/>
            </a:avLst>
          </a:prstGeom>
          <a:solidFill>
            <a:srgbClr val="FFFFFF"/>
          </a:solidFill>
          <a:ln w="9525">
            <a:solidFill>
              <a:srgbClr val="CBD5E1"/>
            </a:solidFill>
            <a:prstDash val="solid"/>
          </a:ln>
        </p:spPr>
      </p:sp>
      <p:sp>
        <p:nvSpPr>
          <p:cNvPr id="8" name="Shape 6"/>
          <p:cNvSpPr/>
          <p:nvPr/>
        </p:nvSpPr>
        <p:spPr>
          <a:xfrm>
            <a:off x="457200" y="1371600"/>
            <a:ext cx="54864" cy="274320"/>
          </a:xfrm>
          <a:prstGeom prst="rect">
            <a:avLst/>
          </a:prstGeom>
          <a:solidFill>
            <a:srgbClr val="14B8A6"/>
          </a:solidFill>
        </p:spPr>
      </p:sp>
      <p:sp>
        <p:nvSpPr>
          <p:cNvPr id="9" name="Text 7"/>
          <p:cNvSpPr txBox="1"/>
          <p:nvPr/>
        </p:nvSpPr>
        <p:spPr>
          <a:xfrm>
            <a:off x="640080" y="1344168"/>
            <a:ext cx="2743200" cy="320040"/>
          </a:xfrm>
          <a:prstGeom prst="rect">
            <a:avLst/>
          </a:prstGeom>
          <a:noFill/>
        </p:spPr>
        <p:txBody>
          <a:bodyPr wrap="square" lIns="0" tIns="0" rIns="0" bIns="0" rtlCol="0" anchor="ctr"/>
          <a:lstStyle/>
          <a:p>
            <a:pPr marL="0" indent="0">
              <a:buNone/>
            </a:pPr>
            <a:r>
              <a:rPr lang="en-US" sz="1300" b="1" dirty="0">
                <a:solidFill>
                  <a:srgbClr val="0F172A"/>
                </a:solidFill>
                <a:latin typeface="Calibri" panose="020F0502020204030204" pitchFamily="34" charset="0"/>
                <a:ea typeface="Calibri" panose="020F0502020204030204" pitchFamily="34" charset="-122"/>
                <a:cs typeface="Calibri" panose="020F0502020204030204" pitchFamily="34" charset="-120"/>
              </a:rPr>
              <a:t>Prompt Used</a:t>
            </a:r>
            <a:endParaRPr lang="en-US" sz="1300" dirty="0"/>
          </a:p>
        </p:txBody>
      </p:sp>
      <p:sp>
        <p:nvSpPr>
          <p:cNvPr id="10" name="Text 8"/>
          <p:cNvSpPr txBox="1"/>
          <p:nvPr/>
        </p:nvSpPr>
        <p:spPr>
          <a:xfrm>
            <a:off x="640080" y="1737360"/>
            <a:ext cx="2743200" cy="914400"/>
          </a:xfrm>
          <a:prstGeom prst="rect">
            <a:avLst/>
          </a:prstGeom>
          <a:noFill/>
        </p:spPr>
        <p:txBody>
          <a:bodyPr wrap="square" lIns="0" tIns="0" rIns="0" bIns="0" rtlCol="0" anchor="t"/>
          <a:lstStyle/>
          <a:p>
            <a:pPr marL="0" indent="0">
              <a:spcAft>
                <a:spcPts val="400"/>
              </a:spcAft>
              <a:buNone/>
            </a:pPr>
            <a:r>
              <a:rPr lang="en-US" sz="1200" dirty="0">
                <a:solidFill>
                  <a:srgbClr val="1E293B"/>
                </a:solidFill>
                <a:latin typeface="Calibri" panose="020F0502020204030204" pitchFamily="34" charset="0"/>
                <a:ea typeface="Calibri" panose="020F0502020204030204" pitchFamily="34" charset="-122"/>
                <a:cs typeface="Calibri" panose="020F0502020204030204" pitchFamily="34" charset="-120"/>
              </a:rPr>
              <a:t>"Illustrate bounding and pruning in 0/1 Knapsack using node values."</a:t>
            </a:r>
            <a:endParaRPr lang="en-US" sz="1200" dirty="0"/>
          </a:p>
        </p:txBody>
      </p:sp>
      <p:sp>
        <p:nvSpPr>
          <p:cNvPr id="11" name="Shape 9"/>
          <p:cNvSpPr/>
          <p:nvPr/>
        </p:nvSpPr>
        <p:spPr>
          <a:xfrm>
            <a:off x="457200" y="2880360"/>
            <a:ext cx="3108960" cy="1737360"/>
          </a:xfrm>
          <a:prstGeom prst="roundRect">
            <a:avLst>
              <a:gd name="adj" fmla="val 4211"/>
            </a:avLst>
          </a:prstGeom>
          <a:solidFill>
            <a:srgbClr val="FFFFFF"/>
          </a:solidFill>
          <a:ln w="9525">
            <a:solidFill>
              <a:srgbClr val="CBD5E1"/>
            </a:solidFill>
            <a:prstDash val="solid"/>
          </a:ln>
        </p:spPr>
      </p:sp>
      <p:sp>
        <p:nvSpPr>
          <p:cNvPr id="12" name="Shape 10"/>
          <p:cNvSpPr/>
          <p:nvPr/>
        </p:nvSpPr>
        <p:spPr>
          <a:xfrm>
            <a:off x="457200" y="3017520"/>
            <a:ext cx="54864" cy="274320"/>
          </a:xfrm>
          <a:prstGeom prst="rect">
            <a:avLst/>
          </a:prstGeom>
          <a:solidFill>
            <a:srgbClr val="14B8A6"/>
          </a:solidFill>
        </p:spPr>
      </p:sp>
      <p:sp>
        <p:nvSpPr>
          <p:cNvPr id="13" name="Text 11"/>
          <p:cNvSpPr txBox="1"/>
          <p:nvPr/>
        </p:nvSpPr>
        <p:spPr>
          <a:xfrm>
            <a:off x="640080" y="2990088"/>
            <a:ext cx="2743200" cy="320040"/>
          </a:xfrm>
          <a:prstGeom prst="rect">
            <a:avLst/>
          </a:prstGeom>
          <a:noFill/>
        </p:spPr>
        <p:txBody>
          <a:bodyPr wrap="square" lIns="0" tIns="0" rIns="0" bIns="0" rtlCol="0" anchor="ctr"/>
          <a:lstStyle/>
          <a:p>
            <a:pPr marL="0" indent="0">
              <a:buNone/>
            </a:pPr>
            <a:r>
              <a:rPr lang="en-US" sz="1300" b="1" dirty="0">
                <a:solidFill>
                  <a:srgbClr val="0F172A"/>
                </a:solidFill>
                <a:latin typeface="Calibri" panose="020F0502020204030204" pitchFamily="34" charset="0"/>
                <a:ea typeface="Calibri" panose="020F0502020204030204" pitchFamily="34" charset="-122"/>
                <a:cs typeface="Calibri" panose="020F0502020204030204" pitchFamily="34" charset="-120"/>
              </a:rPr>
              <a:t>How It Works</a:t>
            </a:r>
            <a:endParaRPr lang="en-US" sz="1300" dirty="0"/>
          </a:p>
        </p:txBody>
      </p:sp>
      <p:sp>
        <p:nvSpPr>
          <p:cNvPr id="14" name="Text 12"/>
          <p:cNvSpPr txBox="1"/>
          <p:nvPr/>
        </p:nvSpPr>
        <p:spPr>
          <a:xfrm>
            <a:off x="640080" y="3383280"/>
            <a:ext cx="2743200" cy="1143000"/>
          </a:xfrm>
          <a:prstGeom prst="rect">
            <a:avLst/>
          </a:prstGeom>
          <a:noFill/>
        </p:spPr>
        <p:txBody>
          <a:bodyPr wrap="square" lIns="0" tIns="0" rIns="0" bIns="0" rtlCol="0" anchor="t"/>
          <a:lstStyle/>
          <a:p>
            <a:pPr marL="0" indent="0">
              <a:spcAft>
                <a:spcPts val="400"/>
              </a:spcAft>
              <a:buNone/>
            </a:pPr>
            <a:r>
              <a:rPr lang="en-US" sz="1050" dirty="0">
                <a:solidFill>
                  <a:srgbClr val="1E293B"/>
                </a:solidFill>
                <a:latin typeface="Calibri" panose="020F0502020204030204" pitchFamily="34" charset="0"/>
                <a:ea typeface="Calibri" panose="020F0502020204030204" pitchFamily="34" charset="-122"/>
                <a:cs typeface="Calibri" panose="020F0502020204030204" pitchFamily="34" charset="-120"/>
              </a:rPr>
              <a:t>Every node shows its bound value. Branches whose bound falls below the current best are crossed out as pruned, so only promising paths are explored, far fewer than in brute force.</a:t>
            </a:r>
            <a:endParaRPr lang="en-US" sz="1050" dirty="0"/>
          </a:p>
        </p:txBody>
      </p:sp>
      <p:sp>
        <p:nvSpPr>
          <p:cNvPr id="15" name="Shape 13"/>
          <p:cNvSpPr/>
          <p:nvPr/>
        </p:nvSpPr>
        <p:spPr>
          <a:xfrm>
            <a:off x="3749040" y="1234440"/>
            <a:ext cx="4937760" cy="3383280"/>
          </a:xfrm>
          <a:prstGeom prst="roundRect">
            <a:avLst>
              <a:gd name="adj" fmla="val 2162"/>
            </a:avLst>
          </a:prstGeom>
          <a:solidFill>
            <a:srgbClr val="FFFFFF"/>
          </a:solidFill>
          <a:ln w="19050">
            <a:solidFill>
              <a:srgbClr val="14B8A6"/>
            </a:solidFill>
            <a:prstDash val="dash"/>
          </a:ln>
        </p:spPr>
      </p:sp>
      <p:pic>
        <p:nvPicPr>
          <p:cNvPr id="16" name="Image 0" descr="/home/claude/v5.png"/>
          <p:cNvPicPr>
            <a:picLocks noChangeAspect="1"/>
          </p:cNvPicPr>
          <p:nvPr/>
        </p:nvPicPr>
        <p:blipFill>
          <a:blip r:embed="rId1"/>
          <a:stretch>
            <a:fillRect/>
          </a:stretch>
        </p:blipFill>
        <p:spPr>
          <a:xfrm>
            <a:off x="3968424" y="1325880"/>
            <a:ext cx="4498992" cy="32004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3840480" y="1828800"/>
            <a:ext cx="1463040" cy="54864"/>
          </a:xfrm>
          <a:prstGeom prst="rect">
            <a:avLst/>
          </a:prstGeom>
          <a:solidFill>
            <a:srgbClr val="14B8A6"/>
          </a:solidFill>
        </p:spPr>
      </p:sp>
      <p:sp>
        <p:nvSpPr>
          <p:cNvPr id="3" name="Text 1"/>
          <p:cNvSpPr txBox="1"/>
          <p:nvPr/>
        </p:nvSpPr>
        <p:spPr>
          <a:xfrm>
            <a:off x="457200" y="2011680"/>
            <a:ext cx="8229600" cy="914400"/>
          </a:xfrm>
          <a:prstGeom prst="rect">
            <a:avLst/>
          </a:prstGeom>
          <a:noFill/>
        </p:spPr>
        <p:txBody>
          <a:bodyPr wrap="square" lIns="0" tIns="0" rIns="0" bIns="0" rtlCol="0" anchor="ctr"/>
          <a:lstStyle/>
          <a:p>
            <a:pPr marL="0" indent="0" algn="ctr">
              <a:buNone/>
            </a:pPr>
            <a:r>
              <a:rPr lang="en-US" sz="4800" b="1" dirty="0">
                <a:solidFill>
                  <a:srgbClr val="FFFFFF"/>
                </a:solidFill>
                <a:latin typeface="Calibri" panose="020F0502020204030204" pitchFamily="34" charset="0"/>
                <a:ea typeface="Calibri" panose="020F0502020204030204" pitchFamily="34" charset="-122"/>
                <a:cs typeface="Calibri" panose="020F0502020204030204" pitchFamily="34" charset="-120"/>
              </a:rPr>
              <a:t>Thank You</a:t>
            </a:r>
            <a:endParaRPr lang="en-US" sz="4800" dirty="0"/>
          </a:p>
        </p:txBody>
      </p:sp>
      <p:sp>
        <p:nvSpPr>
          <p:cNvPr id="4" name="Text 2"/>
          <p:cNvSpPr txBox="1"/>
          <p:nvPr/>
        </p:nvSpPr>
        <p:spPr>
          <a:xfrm>
            <a:off x="457200" y="3017520"/>
            <a:ext cx="8229600" cy="365760"/>
          </a:xfrm>
          <a:prstGeom prst="rect">
            <a:avLst/>
          </a:prstGeom>
          <a:noFill/>
        </p:spPr>
        <p:txBody>
          <a:bodyPr wrap="square" lIns="0" tIns="0" rIns="0" bIns="0" rtlCol="0" anchor="ctr"/>
          <a:lstStyle/>
          <a:p>
            <a:pPr marL="0" indent="0" algn="ctr">
              <a:buNone/>
            </a:pPr>
            <a:r>
              <a:rPr lang="en-US" sz="1600" dirty="0">
                <a:solidFill>
                  <a:srgbClr val="CBD5E1"/>
                </a:solidFill>
                <a:latin typeface="Calibri" panose="020F0502020204030204" pitchFamily="34" charset="0"/>
                <a:ea typeface="Calibri" panose="020F0502020204030204" pitchFamily="34" charset="-122"/>
                <a:cs typeface="Calibri" panose="020F0502020204030204" pitchFamily="34" charset="-120"/>
              </a:rPr>
              <a:t>Group 13  |  Design and Analysis of Algorithms</a:t>
            </a:r>
            <a:endParaRPr lang="en-US" sz="1600" dirty="0"/>
          </a:p>
        </p:txBody>
      </p:sp>
      <p:sp>
        <p:nvSpPr>
          <p:cNvPr id="5" name="Text 3"/>
          <p:cNvSpPr txBox="1"/>
          <p:nvPr/>
        </p:nvSpPr>
        <p:spPr>
          <a:xfrm>
            <a:off x="457200" y="3474720"/>
            <a:ext cx="8229600" cy="365760"/>
          </a:xfrm>
          <a:prstGeom prst="rect">
            <a:avLst/>
          </a:prstGeom>
          <a:noFill/>
        </p:spPr>
        <p:txBody>
          <a:bodyPr wrap="square" lIns="0" tIns="0" rIns="0" bIns="0" rtlCol="0" anchor="ctr"/>
          <a:lstStyle/>
          <a:p>
            <a:pPr marL="0" indent="0" algn="ctr">
              <a:buNone/>
            </a:pP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5535</Words>
  <Application>WPS Presentation</Application>
  <PresentationFormat>On-screen Show (16:9)</PresentationFormat>
  <Paragraphs>243</Paragraphs>
  <Slides>12</Slides>
  <Notes>12</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12</vt:i4>
      </vt:variant>
    </vt:vector>
  </HeadingPairs>
  <TitlesOfParts>
    <vt:vector size="24" baseType="lpstr">
      <vt:lpstr>Arial</vt:lpstr>
      <vt:lpstr>SimSun</vt:lpstr>
      <vt:lpstr>Wingdings</vt:lpstr>
      <vt:lpstr>Calibri</vt:lpstr>
      <vt:lpstr>Calibri</vt:lpstr>
      <vt:lpstr>Calibri</vt:lpstr>
      <vt:lpstr>Consolas</vt:lpstr>
      <vt:lpstr>Consolas</vt:lpstr>
      <vt:lpstr>Consolas</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Group 13 DAA Macro Project</dc:title>
  <dc:creator>PptxGenJS</dc:creator>
  <dc:subject>PptxGenJS Presentation</dc:subject>
  <cp:lastModifiedBy>SNEHA YADAV N SALANDRI</cp:lastModifiedBy>
  <cp:revision>3</cp:revision>
  <dcterms:created xsi:type="dcterms:W3CDTF">2026-10-06T07:50:00Z</dcterms:created>
  <dcterms:modified xsi:type="dcterms:W3CDTF">2026-10-06T07:59:22Z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1033-12.1.0.28485</vt:lpwstr>
  </property>
  <property fmtid="{D5CDD505-2E9C-101B-9397-08002B2CF9AE}" pid="3" name="ICV">
    <vt:lpwstr>9E7E832A856D466F9D13DEA4643AC526_13</vt:lpwstr>
  </property>
</Properties>
</file>